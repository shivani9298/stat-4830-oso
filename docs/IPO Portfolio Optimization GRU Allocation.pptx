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60" r:id="rId4"/>
    <p:sldId id="258" r:id="rId5"/>
    <p:sldId id="259" r:id="rId6"/>
    <p:sldId id="261" r:id="rId7"/>
    <p:sldId id="262" r:id="rId8"/>
    <p:sldId id="266" r:id="rId9"/>
    <p:sldId id="267" r:id="rId10"/>
    <p:sldId id="268" r:id="rId11"/>
    <p:sldId id="269" r:id="rId12"/>
    <p:sldId id="270" r:id="rId13"/>
    <p:sldId id="263" r:id="rId14"/>
    <p:sldId id="264" r:id="rId15"/>
    <p:sldId id="265" r:id="rId16"/>
  </p:sldIdLst>
  <p:sldSz cx="14630400" cy="8229600"/>
  <p:notesSz cx="8229600" cy="14630400"/>
  <p:embeddedFontLst>
    <p:embeddedFont>
      <p:font typeface="Calibri" panose="020F050202020403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6141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926913"/>
            <a:ext cx="13042821" cy="1559243"/>
          </a:xfrm>
          <a:prstGeom prst="rect">
            <a:avLst/>
          </a:prstGeom>
          <a:noFill/>
          <a:ln/>
        </p:spPr>
        <p:txBody>
          <a:bodyPr wrap="square" lIns="0" tIns="0" rIns="0" bIns="0" rtlCol="0" anchor="t"/>
          <a:lstStyle/>
          <a:p>
            <a:pPr marL="0" indent="0" algn="l">
              <a:lnSpc>
                <a:spcPts val="6100"/>
              </a:lnSpc>
              <a:buNone/>
            </a:pPr>
            <a:r>
              <a:rPr lang="en-US" sz="4900" b="1" dirty="0">
                <a:solidFill>
                  <a:srgbClr val="0066CC"/>
                </a:solidFill>
                <a:latin typeface="Calibri" panose="020F0502020204030204" pitchFamily="34" charset="0"/>
                <a:ea typeface="Petrona Bold" pitchFamily="34" charset="-122"/>
                <a:cs typeface="Calibri" panose="020F0502020204030204" pitchFamily="34" charset="0"/>
              </a:rPr>
              <a:t>IPO Portfolio Optimization with GRU-Based Allocation</a:t>
            </a:r>
            <a:endParaRPr lang="en-US" sz="4900" dirty="0">
              <a:latin typeface="Calibri" panose="020F0502020204030204" pitchFamily="34" charset="0"/>
              <a:cs typeface="Calibri" panose="020F0502020204030204" pitchFamily="34" charset="0"/>
            </a:endParaRPr>
          </a:p>
        </p:txBody>
      </p:sp>
      <p:sp>
        <p:nvSpPr>
          <p:cNvPr id="3" name="Text 1"/>
          <p:cNvSpPr/>
          <p:nvPr/>
        </p:nvSpPr>
        <p:spPr>
          <a:xfrm>
            <a:off x="793790" y="493978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STAT 4830 — Spring 2026</a:t>
            </a:r>
          </a:p>
          <a:p>
            <a:pPr>
              <a:lnSpc>
                <a:spcPts val="2850"/>
              </a:lnSpc>
            </a:pPr>
            <a:r>
              <a:rPr lang="en-US" sz="1600" dirty="0">
                <a:solidFill>
                  <a:srgbClr val="000000"/>
                </a:solidFill>
                <a:effectLst/>
                <a:latin typeface="Calibri" panose="020F0502020204030204" pitchFamily="34" charset="0"/>
                <a:cs typeface="Calibri" panose="020F0502020204030204" pitchFamily="34" charset="0"/>
              </a:rPr>
              <a:t>Shivani </a:t>
            </a:r>
            <a:r>
              <a:rPr lang="en-US" sz="1600" dirty="0" err="1">
                <a:solidFill>
                  <a:srgbClr val="000000"/>
                </a:solidFill>
                <a:effectLst/>
                <a:latin typeface="Calibri" panose="020F0502020204030204" pitchFamily="34" charset="0"/>
                <a:cs typeface="Calibri" panose="020F0502020204030204" pitchFamily="34" charset="0"/>
              </a:rPr>
              <a:t>Shreedhar</a:t>
            </a:r>
            <a:r>
              <a:rPr lang="en-US" sz="1600" dirty="0">
                <a:solidFill>
                  <a:srgbClr val="000000"/>
                </a:solidFill>
                <a:effectLst/>
                <a:latin typeface="Calibri" panose="020F0502020204030204" pitchFamily="34" charset="0"/>
                <a:cs typeface="Calibri" panose="020F0502020204030204" pitchFamily="34" charset="0"/>
              </a:rPr>
              <a:t>, Olivia Liu, Oceana Zhu</a:t>
            </a:r>
            <a:r>
              <a:rPr lang="en-US" sz="1750" dirty="0">
                <a:solidFill>
                  <a:srgbClr val="272525"/>
                </a:solidFill>
                <a:latin typeface="Calibri" panose="020F0502020204030204" pitchFamily="34" charset="0"/>
                <a:ea typeface="Inter" pitchFamily="34" charset="-122"/>
                <a:cs typeface="Calibri" panose="020F0502020204030204" pitchFamily="34" charset="0"/>
              </a:rPr>
              <a:t> </a:t>
            </a:r>
            <a:endParaRPr lang="en-US" sz="175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2DEA8F1F-3E90-FE45-0D36-CEDB235E8FE7}"/>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33299"/>
            <a:ext cx="6237684" cy="779621"/>
          </a:xfrm>
          <a:prstGeom prst="rect">
            <a:avLst/>
          </a:prstGeom>
          <a:noFill/>
          <a:ln/>
        </p:spPr>
        <p:txBody>
          <a:bodyPr wrap="none" lIns="0" tIns="0" rIns="0" bIns="0" rtlCol="0" anchor="t"/>
          <a:lstStyle/>
          <a:p>
            <a:pPr marL="0" indent="0" algn="l">
              <a:lnSpc>
                <a:spcPts val="6100"/>
              </a:lnSpc>
              <a:buNone/>
            </a:pPr>
            <a:r>
              <a:rPr lang="en-US" sz="4900" b="1" dirty="0">
                <a:solidFill>
                  <a:srgbClr val="0066CC"/>
                </a:solidFill>
                <a:latin typeface="Calibri" panose="020F0502020204030204" pitchFamily="34" charset="0"/>
                <a:ea typeface="Petrona Bold" pitchFamily="34" charset="-122"/>
                <a:cs typeface="Calibri" panose="020F0502020204030204" pitchFamily="34" charset="0"/>
              </a:rPr>
              <a:t>Problem Statement</a:t>
            </a:r>
            <a:endParaRPr lang="en-US" sz="4900" dirty="0">
              <a:latin typeface="Calibri" panose="020F0502020204030204" pitchFamily="34" charset="0"/>
              <a:cs typeface="Calibri" panose="020F0502020204030204" pitchFamily="34" charset="0"/>
            </a:endParaRPr>
          </a:p>
        </p:txBody>
      </p:sp>
      <p:sp>
        <p:nvSpPr>
          <p:cNvPr id="3" name="Text 1"/>
          <p:cNvSpPr/>
          <p:nvPr/>
        </p:nvSpPr>
        <p:spPr>
          <a:xfrm>
            <a:off x="793790" y="2979896"/>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Portfolio Allocation</a:t>
            </a:r>
            <a:endParaRPr lang="en-US" sz="2450" dirty="0">
              <a:latin typeface="Calibri" panose="020F0502020204030204" pitchFamily="34" charset="0"/>
              <a:cs typeface="Calibri" panose="020F0502020204030204" pitchFamily="34" charset="0"/>
            </a:endParaRPr>
          </a:p>
        </p:txBody>
      </p:sp>
      <p:sp>
        <p:nvSpPr>
          <p:cNvPr id="4" name="Text 2"/>
          <p:cNvSpPr/>
          <p:nvPr/>
        </p:nvSpPr>
        <p:spPr>
          <a:xfrm>
            <a:off x="793790" y="3596640"/>
            <a:ext cx="6244709"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We optimize daily portfolio weights between two asset classes: a market index (82% S&amp;P 500, 18% Dow Jones, proxied via SPY and DIA from CRSP) and a custom IPO index — a market-cap-weighted basket of recent IPOs sourced from SDC Platinum, where each stock is held for 180 trading days post-IPO.</a:t>
            </a:r>
            <a:endParaRPr lang="en-US" sz="1750" dirty="0">
              <a:latin typeface="Calibri" panose="020F0502020204030204" pitchFamily="34" charset="0"/>
              <a:cs typeface="Calibri" panose="020F0502020204030204" pitchFamily="34" charset="0"/>
            </a:endParaRPr>
          </a:p>
        </p:txBody>
      </p:sp>
      <p:sp>
        <p:nvSpPr>
          <p:cNvPr id="5" name="Text 3"/>
          <p:cNvSpPr/>
          <p:nvPr/>
        </p:nvSpPr>
        <p:spPr>
          <a:xfrm>
            <a:off x="7599521" y="2979896"/>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Why This Matters</a:t>
            </a:r>
            <a:endParaRPr lang="en-US" sz="2450" dirty="0">
              <a:latin typeface="Calibri" panose="020F0502020204030204" pitchFamily="34" charset="0"/>
              <a:cs typeface="Calibri" panose="020F0502020204030204" pitchFamily="34" charset="0"/>
            </a:endParaRPr>
          </a:p>
        </p:txBody>
      </p:sp>
      <p:sp>
        <p:nvSpPr>
          <p:cNvPr id="6" name="Text 4"/>
          <p:cNvSpPr/>
          <p:nvPr/>
        </p:nvSpPr>
        <p:spPr>
          <a:xfrm>
            <a:off x="7599521" y="3596640"/>
            <a:ext cx="6244709"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IPOs exhibit 3–4× higher volatility than the broad market, with mean reversion in the first six months and information asymmetry between institutional and retail participants. Static allocations ignore regime shifts (COVID crash 2020, IPO boom 2021, correction 2022).</a:t>
            </a:r>
            <a:endParaRPr lang="en-US" sz="1750" dirty="0">
              <a:latin typeface="Calibri" panose="020F0502020204030204" pitchFamily="34" charset="0"/>
              <a:cs typeface="Calibri" panose="020F0502020204030204" pitchFamily="34" charset="0"/>
            </a:endParaRPr>
          </a:p>
        </p:txBody>
      </p:sp>
      <p:sp>
        <p:nvSpPr>
          <p:cNvPr id="7" name="Text 5"/>
          <p:cNvSpPr/>
          <p:nvPr/>
        </p:nvSpPr>
        <p:spPr>
          <a:xfrm>
            <a:off x="793790" y="6233279"/>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Calibri" panose="020F0502020204030204" pitchFamily="34" charset="0"/>
                <a:ea typeface="Inter" pitchFamily="34" charset="-122"/>
                <a:cs typeface="Calibri" panose="020F0502020204030204" pitchFamily="34" charset="0"/>
              </a:rPr>
              <a:t>Constraints:</a:t>
            </a:r>
            <a:r>
              <a:rPr lang="en-US" sz="1750" dirty="0">
                <a:solidFill>
                  <a:srgbClr val="272525"/>
                </a:solidFill>
                <a:latin typeface="Calibri" panose="020F0502020204030204" pitchFamily="34" charset="0"/>
                <a:ea typeface="Inter" pitchFamily="34" charset="-122"/>
                <a:cs typeface="Calibri" panose="020F0502020204030204" pitchFamily="34" charset="0"/>
              </a:rPr>
              <a:t> Long-only, fully invested, no shorting or leverage, daily rebalancing.</a:t>
            </a:r>
            <a:endParaRPr lang="en-US" sz="1750" dirty="0">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DA070AA7-E143-669E-0B6B-FDC5A6CA0D35}"/>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4A12143-A9D9-10D7-5E7A-0176981C89BA}"/>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3013C828-5ABE-C319-F76A-02743016591D}"/>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10458"/>
            <a:ext cx="9998393" cy="779621"/>
          </a:xfrm>
          <a:prstGeom prst="rect">
            <a:avLst/>
          </a:prstGeom>
          <a:noFill/>
          <a:ln/>
        </p:spPr>
        <p:txBody>
          <a:bodyPr wrap="none" lIns="0" tIns="0" rIns="0" bIns="0" rtlCol="0" anchor="t"/>
          <a:lstStyle/>
          <a:p>
            <a:pPr marL="0" indent="0" algn="l">
              <a:lnSpc>
                <a:spcPts val="6100"/>
              </a:lnSpc>
              <a:buNone/>
            </a:pPr>
            <a:r>
              <a:rPr lang="en-US" sz="4900" b="1" dirty="0">
                <a:solidFill>
                  <a:srgbClr val="0066CC"/>
                </a:solidFill>
                <a:latin typeface="Calibri" panose="020F0502020204030204" pitchFamily="34" charset="0"/>
                <a:ea typeface="Petrona Bold" pitchFamily="34" charset="-122"/>
                <a:cs typeface="Calibri" panose="020F0502020204030204" pitchFamily="34" charset="0"/>
              </a:rPr>
              <a:t>Technical Approach: Loss Function</a:t>
            </a:r>
            <a:endParaRPr lang="en-US" sz="4900" dirty="0">
              <a:latin typeface="Calibri" panose="020F0502020204030204" pitchFamily="34" charset="0"/>
              <a:cs typeface="Calibri" panose="020F0502020204030204" pitchFamily="34" charset="0"/>
            </a:endParaRPr>
          </a:p>
        </p:txBody>
      </p:sp>
      <p:sp>
        <p:nvSpPr>
          <p:cNvPr id="3" name="Text 1"/>
          <p:cNvSpPr/>
          <p:nvPr/>
        </p:nvSpPr>
        <p:spPr>
          <a:xfrm>
            <a:off x="793790" y="204370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The model minimizes a composite differentiable loss with six modular, tunable components:</a:t>
            </a:r>
            <a:endParaRPr lang="en-US" sz="1750" dirty="0">
              <a:latin typeface="Calibri" panose="020F0502020204030204" pitchFamily="34" charset="0"/>
              <a:cs typeface="Calibri" panose="020F0502020204030204" pitchFamily="34" charset="0"/>
            </a:endParaRPr>
          </a:p>
        </p:txBody>
      </p:sp>
      <p:sp>
        <p:nvSpPr>
          <p:cNvPr id="6" name="Shape 3"/>
          <p:cNvSpPr/>
          <p:nvPr/>
        </p:nvSpPr>
        <p:spPr>
          <a:xfrm>
            <a:off x="793790" y="4196750"/>
            <a:ext cx="6407944" cy="1403509"/>
          </a:xfrm>
          <a:prstGeom prst="roundRect">
            <a:avLst>
              <a:gd name="adj" fmla="val 6788"/>
            </a:avLst>
          </a:prstGeom>
          <a:solidFill>
            <a:srgbClr val="FDFAF7"/>
          </a:solidFill>
          <a:ln w="3048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7" name="Text 4"/>
          <p:cNvSpPr/>
          <p:nvPr/>
        </p:nvSpPr>
        <p:spPr>
          <a:xfrm>
            <a:off x="1051084" y="4454044"/>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Return Maximization</a:t>
            </a:r>
            <a:endParaRPr lang="en-US" sz="2450" dirty="0">
              <a:latin typeface="Calibri" panose="020F0502020204030204" pitchFamily="34" charset="0"/>
              <a:cs typeface="Calibri" panose="020F0502020204030204" pitchFamily="34" charset="0"/>
            </a:endParaRPr>
          </a:p>
        </p:txBody>
      </p:sp>
      <p:sp>
        <p:nvSpPr>
          <p:cNvPr id="8" name="Text 5"/>
          <p:cNvSpPr/>
          <p:nvPr/>
        </p:nvSpPr>
        <p:spPr>
          <a:xfrm>
            <a:off x="1051084" y="4980062"/>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Negative mean return objective</a:t>
            </a:r>
            <a:endParaRPr lang="en-US" sz="1750" dirty="0">
              <a:latin typeface="Calibri" panose="020F0502020204030204" pitchFamily="34" charset="0"/>
              <a:cs typeface="Calibri" panose="020F0502020204030204" pitchFamily="34" charset="0"/>
            </a:endParaRPr>
          </a:p>
        </p:txBody>
      </p:sp>
      <p:sp>
        <p:nvSpPr>
          <p:cNvPr id="9" name="Shape 6"/>
          <p:cNvSpPr/>
          <p:nvPr/>
        </p:nvSpPr>
        <p:spPr>
          <a:xfrm>
            <a:off x="7428548" y="4196750"/>
            <a:ext cx="6408063" cy="1403509"/>
          </a:xfrm>
          <a:prstGeom prst="roundRect">
            <a:avLst>
              <a:gd name="adj" fmla="val 6788"/>
            </a:avLst>
          </a:prstGeom>
          <a:solidFill>
            <a:srgbClr val="FDFAF7"/>
          </a:solidFill>
          <a:ln w="3048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0" name="Text 7"/>
          <p:cNvSpPr/>
          <p:nvPr/>
        </p:nvSpPr>
        <p:spPr>
          <a:xfrm>
            <a:off x="7685842" y="4454044"/>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Tail Risk Control</a:t>
            </a:r>
            <a:endParaRPr lang="en-US" sz="2450" dirty="0">
              <a:latin typeface="Calibri" panose="020F0502020204030204" pitchFamily="34" charset="0"/>
              <a:cs typeface="Calibri" panose="020F0502020204030204" pitchFamily="34" charset="0"/>
            </a:endParaRPr>
          </a:p>
        </p:txBody>
      </p:sp>
      <p:sp>
        <p:nvSpPr>
          <p:cNvPr id="11" name="Text 8"/>
          <p:cNvSpPr/>
          <p:nvPr/>
        </p:nvSpPr>
        <p:spPr>
          <a:xfrm>
            <a:off x="7685842" y="4980062"/>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CVaR at 5% level via soft-sorting approximation</a:t>
            </a:r>
            <a:endParaRPr lang="en-US" sz="1750" dirty="0">
              <a:latin typeface="Calibri" panose="020F0502020204030204" pitchFamily="34" charset="0"/>
              <a:cs typeface="Calibri" panose="020F0502020204030204" pitchFamily="34" charset="0"/>
            </a:endParaRPr>
          </a:p>
        </p:txBody>
      </p:sp>
      <p:sp>
        <p:nvSpPr>
          <p:cNvPr id="12" name="Shape 9"/>
          <p:cNvSpPr/>
          <p:nvPr/>
        </p:nvSpPr>
        <p:spPr>
          <a:xfrm>
            <a:off x="793790" y="5827072"/>
            <a:ext cx="6407944" cy="1403509"/>
          </a:xfrm>
          <a:prstGeom prst="roundRect">
            <a:avLst>
              <a:gd name="adj" fmla="val 6788"/>
            </a:avLst>
          </a:prstGeom>
          <a:solidFill>
            <a:srgbClr val="FDFAF7"/>
          </a:solidFill>
          <a:ln w="3048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3" name="Text 10"/>
          <p:cNvSpPr/>
          <p:nvPr/>
        </p:nvSpPr>
        <p:spPr>
          <a:xfrm>
            <a:off x="1051084" y="6084366"/>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Variance Penalty</a:t>
            </a:r>
            <a:endParaRPr lang="en-US" sz="2450" dirty="0">
              <a:latin typeface="Calibri" panose="020F0502020204030204" pitchFamily="34" charset="0"/>
              <a:cs typeface="Calibri" panose="020F0502020204030204" pitchFamily="34" charset="0"/>
            </a:endParaRPr>
          </a:p>
        </p:txBody>
      </p:sp>
      <p:sp>
        <p:nvSpPr>
          <p:cNvPr id="14" name="Text 11"/>
          <p:cNvSpPr/>
          <p:nvPr/>
        </p:nvSpPr>
        <p:spPr>
          <a:xfrm>
            <a:off x="1051084" y="6610385"/>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Volatility excess penalty (target 25% annual vol)</a:t>
            </a:r>
            <a:endParaRPr lang="en-US" sz="1750" dirty="0">
              <a:latin typeface="Calibri" panose="020F0502020204030204" pitchFamily="34" charset="0"/>
              <a:cs typeface="Calibri" panose="020F0502020204030204" pitchFamily="34" charset="0"/>
            </a:endParaRPr>
          </a:p>
        </p:txBody>
      </p:sp>
      <p:sp>
        <p:nvSpPr>
          <p:cNvPr id="15" name="Shape 12"/>
          <p:cNvSpPr/>
          <p:nvPr/>
        </p:nvSpPr>
        <p:spPr>
          <a:xfrm>
            <a:off x="7428548" y="5827072"/>
            <a:ext cx="6408063" cy="1403509"/>
          </a:xfrm>
          <a:prstGeom prst="roundRect">
            <a:avLst>
              <a:gd name="adj" fmla="val 6788"/>
            </a:avLst>
          </a:prstGeom>
          <a:solidFill>
            <a:srgbClr val="FDFAF7"/>
          </a:solidFill>
          <a:ln w="3048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6" name="Text 13"/>
          <p:cNvSpPr/>
          <p:nvPr/>
        </p:nvSpPr>
        <p:spPr>
          <a:xfrm>
            <a:off x="7685842" y="6084366"/>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Turnover Penalty</a:t>
            </a:r>
            <a:endParaRPr lang="en-US" sz="2450" dirty="0">
              <a:latin typeface="Calibri" panose="020F0502020204030204" pitchFamily="34" charset="0"/>
              <a:cs typeface="Calibri" panose="020F0502020204030204" pitchFamily="34" charset="0"/>
            </a:endParaRPr>
          </a:p>
        </p:txBody>
      </p:sp>
      <p:sp>
        <p:nvSpPr>
          <p:cNvPr id="17" name="Text 14"/>
          <p:cNvSpPr/>
          <p:nvPr/>
        </p:nvSpPr>
        <p:spPr>
          <a:xfrm>
            <a:off x="7685842" y="6610385"/>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L1 norm and path stability (L2 squared)</a:t>
            </a:r>
            <a:endParaRPr lang="en-US" sz="1750" dirty="0">
              <a:latin typeface="Calibri" panose="020F0502020204030204" pitchFamily="34" charset="0"/>
              <a:cs typeface="Calibri" panose="020F0502020204030204" pitchFamily="34" charset="0"/>
            </a:endParaRPr>
          </a:p>
        </p:txBody>
      </p:sp>
      <p:sp>
        <p:nvSpPr>
          <p:cNvPr id="18" name="Text 15"/>
          <p:cNvSpPr/>
          <p:nvPr/>
        </p:nvSpPr>
        <p:spPr>
          <a:xfrm>
            <a:off x="793790" y="7056239"/>
            <a:ext cx="13042821" cy="362903"/>
          </a:xfrm>
          <a:prstGeom prst="rect">
            <a:avLst/>
          </a:prstGeom>
          <a:noFill/>
          <a:ln/>
        </p:spPr>
        <p:txBody>
          <a:bodyPr wrap="none" lIns="0" tIns="0" rIns="0" bIns="0" rtlCol="0" anchor="t"/>
          <a:lstStyle/>
          <a:p>
            <a:pPr marL="0" indent="0" algn="l">
              <a:lnSpc>
                <a:spcPts val="2850"/>
              </a:lnSpc>
              <a:buNone/>
            </a:pPr>
            <a:endParaRPr lang="en-US" sz="1750" dirty="0">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862295AF-7A2B-0A46-C898-19AC76CD4672}"/>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pic>
        <p:nvPicPr>
          <p:cNvPr id="22" name="Picture 21" descr="A math equation with black text&#10;&#10;Description automatically generated">
            <a:extLst>
              <a:ext uri="{FF2B5EF4-FFF2-40B4-BE49-F238E27FC236}">
                <a16:creationId xmlns:a16="http://schemas.microsoft.com/office/drawing/2014/main" id="{84A13CF7-D7C1-1229-4509-6E63C398C3F9}"/>
              </a:ext>
            </a:extLst>
          </p:cNvPr>
          <p:cNvPicPr>
            <a:picLocks noChangeAspect="1"/>
          </p:cNvPicPr>
          <p:nvPr/>
        </p:nvPicPr>
        <p:blipFill>
          <a:blip r:embed="rId3"/>
          <a:stretch>
            <a:fillRect/>
          </a:stretch>
        </p:blipFill>
        <p:spPr>
          <a:xfrm>
            <a:off x="2360322" y="2507637"/>
            <a:ext cx="10136451" cy="1403508"/>
          </a:xfrm>
          <a:prstGeom prst="rect">
            <a:avLst/>
          </a:prstGeom>
        </p:spPr>
      </p:pic>
      <p:sp>
        <p:nvSpPr>
          <p:cNvPr id="4" name="Rectangle 3">
            <a:extLst>
              <a:ext uri="{FF2B5EF4-FFF2-40B4-BE49-F238E27FC236}">
                <a16:creationId xmlns:a16="http://schemas.microsoft.com/office/drawing/2014/main" id="{C0DC13D4-7AFE-DD25-6552-F0376A16BDA1}"/>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915635D-D99F-E66E-401E-F30D07497EB7}"/>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16994"/>
            <a:ext cx="10406420" cy="701635"/>
          </a:xfrm>
          <a:prstGeom prst="rect">
            <a:avLst/>
          </a:prstGeom>
          <a:noFill/>
          <a:ln/>
        </p:spPr>
        <p:txBody>
          <a:bodyPr wrap="none" lIns="0" tIns="0" rIns="0" bIns="0" rtlCol="0" anchor="t"/>
          <a:lstStyle/>
          <a:p>
            <a:pPr marL="0" indent="0" algn="l">
              <a:lnSpc>
                <a:spcPts val="5500"/>
              </a:lnSpc>
              <a:buNone/>
            </a:pPr>
            <a:r>
              <a:rPr lang="en-US" sz="4400" b="1" dirty="0">
                <a:solidFill>
                  <a:srgbClr val="0066CC"/>
                </a:solidFill>
                <a:latin typeface="Calibri" panose="020F0502020204030204" pitchFamily="34" charset="0"/>
                <a:ea typeface="Petrona Bold" pitchFamily="34" charset="-122"/>
                <a:cs typeface="Calibri" panose="020F0502020204030204" pitchFamily="34" charset="0"/>
              </a:rPr>
              <a:t>Technical Approach: Model Architecture</a:t>
            </a:r>
            <a:endParaRPr lang="en-US" sz="4400" dirty="0">
              <a:latin typeface="Calibri" panose="020F0502020204030204" pitchFamily="34" charset="0"/>
              <a:cs typeface="Calibri" panose="020F0502020204030204" pitchFamily="34" charset="0"/>
            </a:endParaRPr>
          </a:p>
        </p:txBody>
      </p:sp>
      <p:sp>
        <p:nvSpPr>
          <p:cNvPr id="4" name="Text 1"/>
          <p:cNvSpPr/>
          <p:nvPr/>
        </p:nvSpPr>
        <p:spPr>
          <a:xfrm>
            <a:off x="1998226" y="1990130"/>
            <a:ext cx="2806898" cy="350877"/>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Input Layer</a:t>
            </a:r>
            <a:endParaRPr lang="en-US" sz="2200" dirty="0">
              <a:latin typeface="Calibri" panose="020F0502020204030204" pitchFamily="34" charset="0"/>
              <a:cs typeface="Calibri" panose="020F0502020204030204" pitchFamily="34" charset="0"/>
            </a:endParaRPr>
          </a:p>
        </p:txBody>
      </p:sp>
      <p:sp>
        <p:nvSpPr>
          <p:cNvPr id="5" name="Text 2"/>
          <p:cNvSpPr/>
          <p:nvPr/>
        </p:nvSpPr>
        <p:spPr>
          <a:xfrm>
            <a:off x="1998226" y="2451140"/>
            <a:ext cx="11838384"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84-day rolling window of 4 features: market return, IPO return, 21-day rolling volatility, VIX level</a:t>
            </a:r>
            <a:endParaRPr lang="en-US" sz="1600" dirty="0">
              <a:latin typeface="Calibri" panose="020F0502020204030204" pitchFamily="34" charset="0"/>
              <a:cs typeface="Calibri" panose="020F0502020204030204" pitchFamily="34" charset="0"/>
            </a:endParaRPr>
          </a:p>
        </p:txBody>
      </p:sp>
      <p:pic>
        <p:nvPicPr>
          <p:cNvPr id="6" name="Image 1" descr="preencoded.png"/>
          <p:cNvPicPr>
            <a:picLocks noChangeAspect="1"/>
          </p:cNvPicPr>
          <p:nvPr/>
        </p:nvPicPr>
        <p:blipFill>
          <a:blip r:embed="rId3"/>
          <a:stretch>
            <a:fillRect/>
          </a:stretch>
        </p:blipFill>
        <p:spPr>
          <a:xfrm>
            <a:off x="793790" y="3010853"/>
            <a:ext cx="1020723" cy="1224796"/>
          </a:xfrm>
          <a:prstGeom prst="rect">
            <a:avLst/>
          </a:prstGeom>
        </p:spPr>
      </p:pic>
      <p:sp>
        <p:nvSpPr>
          <p:cNvPr id="7" name="Text 3"/>
          <p:cNvSpPr/>
          <p:nvPr/>
        </p:nvSpPr>
        <p:spPr>
          <a:xfrm>
            <a:off x="1998226" y="3214926"/>
            <a:ext cx="2806898" cy="350877"/>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GRU Network</a:t>
            </a:r>
            <a:endParaRPr lang="en-US" sz="2200" dirty="0">
              <a:latin typeface="Calibri" panose="020F0502020204030204" pitchFamily="34" charset="0"/>
              <a:cs typeface="Calibri" panose="020F0502020204030204" pitchFamily="34" charset="0"/>
            </a:endParaRPr>
          </a:p>
        </p:txBody>
      </p:sp>
      <p:sp>
        <p:nvSpPr>
          <p:cNvPr id="8" name="Text 4"/>
          <p:cNvSpPr/>
          <p:nvPr/>
        </p:nvSpPr>
        <p:spPr>
          <a:xfrm>
            <a:off x="1998226" y="3675936"/>
            <a:ext cx="11838384"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Gated Recurrent Unit: input=4, hidden=64, 1 layer</a:t>
            </a:r>
            <a:endParaRPr lang="en-US" sz="1600" dirty="0">
              <a:latin typeface="Calibri" panose="020F0502020204030204" pitchFamily="34" charset="0"/>
              <a:cs typeface="Calibri" panose="020F0502020204030204" pitchFamily="34" charset="0"/>
            </a:endParaRPr>
          </a:p>
        </p:txBody>
      </p:sp>
      <p:pic>
        <p:nvPicPr>
          <p:cNvPr id="9" name="Image 2" descr="preencoded.png"/>
          <p:cNvPicPr>
            <a:picLocks noChangeAspect="1"/>
          </p:cNvPicPr>
          <p:nvPr/>
        </p:nvPicPr>
        <p:blipFill>
          <a:blip r:embed="rId4"/>
          <a:stretch>
            <a:fillRect/>
          </a:stretch>
        </p:blipFill>
        <p:spPr>
          <a:xfrm>
            <a:off x="793790" y="4235648"/>
            <a:ext cx="1020723" cy="1224796"/>
          </a:xfrm>
          <a:prstGeom prst="rect">
            <a:avLst/>
          </a:prstGeom>
        </p:spPr>
      </p:pic>
      <p:sp>
        <p:nvSpPr>
          <p:cNvPr id="10" name="Text 5"/>
          <p:cNvSpPr/>
          <p:nvPr/>
        </p:nvSpPr>
        <p:spPr>
          <a:xfrm>
            <a:off x="1998226" y="4439722"/>
            <a:ext cx="2806898" cy="350877"/>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MLP Head</a:t>
            </a:r>
            <a:endParaRPr lang="en-US" sz="2200" dirty="0">
              <a:latin typeface="Calibri" panose="020F0502020204030204" pitchFamily="34" charset="0"/>
              <a:cs typeface="Calibri" panose="020F0502020204030204" pitchFamily="34" charset="0"/>
            </a:endParaRPr>
          </a:p>
        </p:txBody>
      </p:sp>
      <p:sp>
        <p:nvSpPr>
          <p:cNvPr id="11" name="Text 6"/>
          <p:cNvSpPr/>
          <p:nvPr/>
        </p:nvSpPr>
        <p:spPr>
          <a:xfrm>
            <a:off x="1998226" y="4900732"/>
            <a:ext cx="11838384"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2-layer MLP (64→64→2)</a:t>
            </a:r>
            <a:endParaRPr lang="en-US" sz="1600" dirty="0">
              <a:latin typeface="Calibri" panose="020F0502020204030204" pitchFamily="34" charset="0"/>
              <a:cs typeface="Calibri" panose="020F0502020204030204" pitchFamily="34" charset="0"/>
            </a:endParaRPr>
          </a:p>
        </p:txBody>
      </p:sp>
      <p:pic>
        <p:nvPicPr>
          <p:cNvPr id="12" name="Image 3" descr="preencoded.png"/>
          <p:cNvPicPr>
            <a:picLocks noChangeAspect="1"/>
          </p:cNvPicPr>
          <p:nvPr/>
        </p:nvPicPr>
        <p:blipFill>
          <a:blip r:embed="rId5"/>
          <a:stretch>
            <a:fillRect/>
          </a:stretch>
        </p:blipFill>
        <p:spPr>
          <a:xfrm>
            <a:off x="793790" y="5460444"/>
            <a:ext cx="1020723" cy="1224796"/>
          </a:xfrm>
          <a:prstGeom prst="rect">
            <a:avLst/>
          </a:prstGeom>
        </p:spPr>
      </p:pic>
      <p:sp>
        <p:nvSpPr>
          <p:cNvPr id="13" name="Text 7"/>
          <p:cNvSpPr/>
          <p:nvPr/>
        </p:nvSpPr>
        <p:spPr>
          <a:xfrm>
            <a:off x="1998226" y="5664518"/>
            <a:ext cx="2806898" cy="350877"/>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Softmax Output</a:t>
            </a:r>
            <a:endParaRPr lang="en-US" sz="2200" dirty="0">
              <a:latin typeface="Calibri" panose="020F0502020204030204" pitchFamily="34" charset="0"/>
              <a:cs typeface="Calibri" panose="020F0502020204030204" pitchFamily="34" charset="0"/>
            </a:endParaRPr>
          </a:p>
        </p:txBody>
      </p:sp>
      <p:sp>
        <p:nvSpPr>
          <p:cNvPr id="14" name="Text 8"/>
          <p:cNvSpPr/>
          <p:nvPr/>
        </p:nvSpPr>
        <p:spPr>
          <a:xfrm>
            <a:off x="1998226" y="6125527"/>
            <a:ext cx="11838384" cy="310277"/>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Portfolio weights w = [w_market, w_IPO] with w_i ≥ 0, Σw_i = 1</a:t>
            </a:r>
            <a:endParaRPr lang="en-US" sz="1600" dirty="0">
              <a:latin typeface="Calibri" panose="020F0502020204030204" pitchFamily="34" charset="0"/>
              <a:cs typeface="Calibri" panose="020F0502020204030204" pitchFamily="34" charset="0"/>
            </a:endParaRPr>
          </a:p>
        </p:txBody>
      </p:sp>
      <p:sp>
        <p:nvSpPr>
          <p:cNvPr id="15" name="Text 9"/>
          <p:cNvSpPr/>
          <p:nvPr/>
        </p:nvSpPr>
        <p:spPr>
          <a:xfrm>
            <a:off x="793790" y="6891933"/>
            <a:ext cx="13042821" cy="62055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The GRU extracts temporal patterns from the rolling window; the softmax output guarantees valid simplex-constrained weights. GRU was chosen over LSTM for fewer parameters and faster training on our small dataset (~1,100 samples).</a:t>
            </a:r>
            <a:endParaRPr lang="en-US" sz="1600"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88D8AC74-16DA-C53E-5910-C524DCC207FF}"/>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24FA7F59-43C8-438E-1366-5330B2651455}"/>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A30262D4-C701-B3ED-0E88-73E03523E5FF}"/>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01184"/>
            <a:ext cx="6237684" cy="779621"/>
          </a:xfrm>
          <a:prstGeom prst="rect">
            <a:avLst/>
          </a:prstGeom>
          <a:noFill/>
          <a:ln/>
        </p:spPr>
        <p:txBody>
          <a:bodyPr wrap="none" lIns="0" tIns="0" rIns="0" bIns="0" rtlCol="0" anchor="t"/>
          <a:lstStyle/>
          <a:p>
            <a:pPr marL="0" indent="0" algn="l">
              <a:lnSpc>
                <a:spcPts val="6100"/>
              </a:lnSpc>
              <a:buNone/>
            </a:pPr>
            <a:r>
              <a:rPr lang="en-US" sz="2800" b="1" dirty="0">
                <a:solidFill>
                  <a:srgbClr val="0066CC"/>
                </a:solidFill>
                <a:latin typeface="Calibri" panose="020F0502020204030204" pitchFamily="34" charset="0"/>
                <a:ea typeface="Petrona Bold" pitchFamily="34" charset="-122"/>
                <a:cs typeface="Calibri" panose="020F0502020204030204" pitchFamily="34" charset="0"/>
              </a:rPr>
              <a:t>Training Progress</a:t>
            </a:r>
            <a:endParaRPr lang="en-US" sz="49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BB3E5017-2582-4C73-5056-133847D526A5}"/>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pic>
        <p:nvPicPr>
          <p:cNvPr id="15" name="Picture 14" descr="image.png"/>
          <p:cNvPicPr>
            <a:picLocks noChangeAspect="1"/>
          </p:cNvPicPr>
          <p:nvPr/>
        </p:nvPicPr>
        <p:blipFill>
          <a:blip r:embed="rId3"/>
          <a:stretch>
            <a:fillRect/>
          </a:stretch>
        </p:blipFill>
        <p:spPr>
          <a:xfrm>
            <a:off x="365760" y="1005840"/>
            <a:ext cx="8229600" cy="6858000"/>
          </a:xfrm>
          <a:prstGeom prst="rect">
            <a:avLst/>
          </a:prstGeom>
        </p:spPr>
      </p:pic>
      <p:sp>
        <p:nvSpPr>
          <p:cNvPr id="16" name="Rectangle 15"/>
          <p:cNvSpPr/>
          <p:nvPr/>
        </p:nvSpPr>
        <p:spPr>
          <a:xfrm>
            <a:off x="795528" y="896112"/>
            <a:ext cx="13039344"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8240" y="1051560"/>
            <a:ext cx="5577840" cy="329184"/>
          </a:xfrm>
          <a:prstGeom prst="rect">
            <a:avLst/>
          </a:prstGeom>
          <a:noFill/>
        </p:spPr>
        <p:txBody>
          <a:bodyPr wrap="square">
            <a:spAutoFit/>
          </a:bodyPr>
          <a:lstStyle/>
          <a:p>
            <a:r>
              <a:rPr sz="1300" b="1">
                <a:solidFill>
                  <a:srgbClr val="0066CC"/>
                </a:solidFill>
              </a:rPr>
              <a:t>▸  LR drop at epoch 1</a:t>
            </a:r>
          </a:p>
        </p:txBody>
      </p:sp>
      <p:sp>
        <p:nvSpPr>
          <p:cNvPr id="18" name="TextBox 17"/>
          <p:cNvSpPr txBox="1"/>
          <p:nvPr/>
        </p:nvSpPr>
        <p:spPr>
          <a:xfrm>
            <a:off x="9052560" y="1362456"/>
            <a:ext cx="5303520" cy="461665"/>
          </a:xfrm>
          <a:prstGeom prst="rect">
            <a:avLst/>
          </a:prstGeom>
          <a:noFill/>
        </p:spPr>
        <p:txBody>
          <a:bodyPr wrap="square">
            <a:spAutoFit/>
          </a:bodyPr>
          <a:lstStyle/>
          <a:p>
            <a:r>
              <a:rPr sz="1200" b="0">
                <a:solidFill>
                  <a:srgbClr val="333333"/>
                </a:solidFill>
              </a:rPr>
              <a:t>Learning rate falls 10× (3e-4→3e-5) after the first epoch. Training loss immediately tightens, escaping the high-noise floor.</a:t>
            </a:r>
          </a:p>
        </p:txBody>
      </p:sp>
      <p:sp>
        <p:nvSpPr>
          <p:cNvPr id="19" name="TextBox 18"/>
          <p:cNvSpPr txBox="1"/>
          <p:nvPr/>
        </p:nvSpPr>
        <p:spPr>
          <a:xfrm>
            <a:off x="8778240" y="2203704"/>
            <a:ext cx="5577840" cy="329184"/>
          </a:xfrm>
          <a:prstGeom prst="rect">
            <a:avLst/>
          </a:prstGeom>
          <a:noFill/>
        </p:spPr>
        <p:txBody>
          <a:bodyPr wrap="square">
            <a:spAutoFit/>
          </a:bodyPr>
          <a:lstStyle/>
          <a:p>
            <a:r>
              <a:rPr sz="1300" b="1">
                <a:solidFill>
                  <a:srgbClr val="0066CC"/>
                </a:solidFill>
              </a:rPr>
              <a:t>▸  Train loss descends, val loss flat</a:t>
            </a:r>
          </a:p>
        </p:txBody>
      </p:sp>
      <p:sp>
        <p:nvSpPr>
          <p:cNvPr id="20" name="TextBox 19"/>
          <p:cNvSpPr txBox="1"/>
          <p:nvPr/>
        </p:nvSpPr>
        <p:spPr>
          <a:xfrm>
            <a:off x="9052560" y="2514600"/>
            <a:ext cx="5303520" cy="461665"/>
          </a:xfrm>
          <a:prstGeom prst="rect">
            <a:avLst/>
          </a:prstGeom>
          <a:noFill/>
        </p:spPr>
        <p:txBody>
          <a:bodyPr wrap="square">
            <a:spAutoFit/>
          </a:bodyPr>
          <a:lstStyle/>
          <a:p>
            <a:r>
              <a:rPr sz="1200" b="0" dirty="0">
                <a:solidFill>
                  <a:srgbClr val="333333"/>
                </a:solidFill>
              </a:rPr>
              <a:t>Train |loss| drops from ~10⁻² to ~10⁻³ over 200 epochs. Validation loss barely moves </a:t>
            </a:r>
            <a:r>
              <a:rPr lang="en-US" sz="1200" b="0" dirty="0">
                <a:solidFill>
                  <a:srgbClr val="333333"/>
                </a:solidFill>
              </a:rPr>
              <a:t>(overfitting issue we will work on)</a:t>
            </a:r>
            <a:endParaRPr sz="1200" b="0" dirty="0">
              <a:solidFill>
                <a:srgbClr val="333333"/>
              </a:solidFill>
            </a:endParaRPr>
          </a:p>
        </p:txBody>
      </p:sp>
      <p:sp>
        <p:nvSpPr>
          <p:cNvPr id="21" name="TextBox 20"/>
          <p:cNvSpPr txBox="1"/>
          <p:nvPr/>
        </p:nvSpPr>
        <p:spPr>
          <a:xfrm>
            <a:off x="8778240" y="3355848"/>
            <a:ext cx="5577840" cy="329184"/>
          </a:xfrm>
          <a:prstGeom prst="rect">
            <a:avLst/>
          </a:prstGeom>
          <a:noFill/>
        </p:spPr>
        <p:txBody>
          <a:bodyPr wrap="square">
            <a:spAutoFit/>
          </a:bodyPr>
          <a:lstStyle/>
          <a:p>
            <a:r>
              <a:rPr sz="1300" b="1">
                <a:solidFill>
                  <a:srgbClr val="0066CC"/>
                </a:solidFill>
              </a:rPr>
              <a:t>▸  Generalisation gap</a:t>
            </a:r>
          </a:p>
        </p:txBody>
      </p:sp>
      <p:sp>
        <p:nvSpPr>
          <p:cNvPr id="22" name="TextBox 21"/>
          <p:cNvSpPr txBox="1"/>
          <p:nvPr/>
        </p:nvSpPr>
        <p:spPr>
          <a:xfrm>
            <a:off x="9052560" y="3666744"/>
            <a:ext cx="5303520" cy="461665"/>
          </a:xfrm>
          <a:prstGeom prst="rect">
            <a:avLst/>
          </a:prstGeom>
          <a:noFill/>
        </p:spPr>
        <p:txBody>
          <a:bodyPr wrap="square">
            <a:spAutoFit/>
          </a:bodyPr>
          <a:lstStyle/>
          <a:p>
            <a:r>
              <a:rPr sz="1200" b="0" dirty="0">
                <a:solidFill>
                  <a:srgbClr val="333333"/>
                </a:solidFill>
              </a:rPr>
              <a:t>The ~10× gap between train and </a:t>
            </a:r>
            <a:r>
              <a:rPr sz="1200" b="0" dirty="0" err="1">
                <a:solidFill>
                  <a:srgbClr val="333333"/>
                </a:solidFill>
              </a:rPr>
              <a:t>val</a:t>
            </a:r>
            <a:r>
              <a:rPr sz="1200" b="0" dirty="0">
                <a:solidFill>
                  <a:srgbClr val="333333"/>
                </a:solidFill>
              </a:rPr>
              <a:t> loss by epoch 200 means the GRU is memori</a:t>
            </a:r>
            <a:r>
              <a:rPr lang="en-US" sz="1200" b="0" dirty="0">
                <a:solidFill>
                  <a:srgbClr val="333333"/>
                </a:solidFill>
              </a:rPr>
              <a:t>z</a:t>
            </a:r>
            <a:r>
              <a:rPr sz="1200" b="0" dirty="0">
                <a:solidFill>
                  <a:srgbClr val="333333"/>
                </a:solidFill>
              </a:rPr>
              <a:t>ing 2020</a:t>
            </a:r>
            <a:r>
              <a:rPr lang="en-US" sz="1200" b="0" dirty="0">
                <a:solidFill>
                  <a:srgbClr val="333333"/>
                </a:solidFill>
              </a:rPr>
              <a:t>-</a:t>
            </a:r>
            <a:r>
              <a:rPr sz="1200" b="0" dirty="0">
                <a:solidFill>
                  <a:srgbClr val="333333"/>
                </a:solidFill>
              </a:rPr>
              <a:t>2023 patterns that do not transfer to the 2024 validation period.</a:t>
            </a:r>
          </a:p>
        </p:txBody>
      </p:sp>
      <p:sp>
        <p:nvSpPr>
          <p:cNvPr id="23" name="TextBox 22"/>
          <p:cNvSpPr txBox="1"/>
          <p:nvPr/>
        </p:nvSpPr>
        <p:spPr>
          <a:xfrm>
            <a:off x="8778240" y="4507992"/>
            <a:ext cx="5577840" cy="329184"/>
          </a:xfrm>
          <a:prstGeom prst="rect">
            <a:avLst/>
          </a:prstGeom>
          <a:noFill/>
        </p:spPr>
        <p:txBody>
          <a:bodyPr wrap="square">
            <a:spAutoFit/>
          </a:bodyPr>
          <a:lstStyle/>
          <a:p>
            <a:r>
              <a:rPr sz="1300" b="1">
                <a:solidFill>
                  <a:srgbClr val="0066CC"/>
                </a:solidFill>
              </a:rPr>
              <a:t>▸  Batch noise resolved</a:t>
            </a:r>
          </a:p>
        </p:txBody>
      </p:sp>
      <p:sp>
        <p:nvSpPr>
          <p:cNvPr id="24" name="TextBox 23"/>
          <p:cNvSpPr txBox="1"/>
          <p:nvPr/>
        </p:nvSpPr>
        <p:spPr>
          <a:xfrm>
            <a:off x="9052560" y="4818888"/>
            <a:ext cx="5303520" cy="461665"/>
          </a:xfrm>
          <a:prstGeom prst="rect">
            <a:avLst/>
          </a:prstGeom>
          <a:noFill/>
        </p:spPr>
        <p:txBody>
          <a:bodyPr wrap="square">
            <a:spAutoFit/>
          </a:bodyPr>
          <a:lstStyle/>
          <a:p>
            <a:r>
              <a:rPr sz="1200" b="0" dirty="0">
                <a:solidFill>
                  <a:srgbClr val="333333"/>
                </a:solidFill>
              </a:rPr>
              <a:t>With batch=256 (~3.6 batches/epoch), individual epoch spikes are smaller than the old batch=32 run. The smoothed curve reveals</a:t>
            </a:r>
            <a:r>
              <a:rPr lang="en-US" sz="1200" b="0" dirty="0">
                <a:solidFill>
                  <a:srgbClr val="333333"/>
                </a:solidFill>
              </a:rPr>
              <a:t> more</a:t>
            </a:r>
            <a:r>
              <a:rPr sz="1200" b="0" dirty="0">
                <a:solidFill>
                  <a:srgbClr val="333333"/>
                </a:solidFill>
              </a:rPr>
              <a:t> convergence</a:t>
            </a:r>
            <a:r>
              <a:rPr lang="en-US" sz="1200" b="0" dirty="0">
                <a:solidFill>
                  <a:srgbClr val="333333"/>
                </a:solidFill>
              </a:rPr>
              <a:t>.</a:t>
            </a:r>
            <a:endParaRPr sz="1200" b="0" dirty="0">
              <a:solidFill>
                <a:srgbClr val="333333"/>
              </a:solidFill>
            </a:endParaRPr>
          </a:p>
        </p:txBody>
      </p:sp>
      <p:sp>
        <p:nvSpPr>
          <p:cNvPr id="25" name="TextBox 24"/>
          <p:cNvSpPr txBox="1"/>
          <p:nvPr/>
        </p:nvSpPr>
        <p:spPr>
          <a:xfrm>
            <a:off x="8778240" y="5660136"/>
            <a:ext cx="5577840" cy="329184"/>
          </a:xfrm>
          <a:prstGeom prst="rect">
            <a:avLst/>
          </a:prstGeom>
          <a:noFill/>
        </p:spPr>
        <p:txBody>
          <a:bodyPr wrap="square">
            <a:spAutoFit/>
          </a:bodyPr>
          <a:lstStyle/>
          <a:p>
            <a:r>
              <a:rPr sz="1300" b="1">
                <a:solidFill>
                  <a:srgbClr val="0066CC"/>
                </a:solidFill>
              </a:rPr>
              <a:t>▸  Early stopping not triggered</a:t>
            </a:r>
          </a:p>
        </p:txBody>
      </p:sp>
      <p:sp>
        <p:nvSpPr>
          <p:cNvPr id="26" name="TextBox 25"/>
          <p:cNvSpPr txBox="1"/>
          <p:nvPr/>
        </p:nvSpPr>
        <p:spPr>
          <a:xfrm>
            <a:off x="9052560" y="5971032"/>
            <a:ext cx="5303520" cy="461665"/>
          </a:xfrm>
          <a:prstGeom prst="rect">
            <a:avLst/>
          </a:prstGeom>
          <a:noFill/>
        </p:spPr>
        <p:txBody>
          <a:bodyPr wrap="square">
            <a:spAutoFit/>
          </a:bodyPr>
          <a:lstStyle/>
          <a:p>
            <a:r>
              <a:rPr sz="1200" b="0" dirty="0">
                <a:solidFill>
                  <a:srgbClr val="333333"/>
                </a:solidFill>
              </a:rPr>
              <a:t>Patience=200 means all 200 epochs ran. Val loss plateau after ~epoch 30 suggests diminishing returns</a:t>
            </a:r>
            <a:r>
              <a:rPr lang="en-US" sz="1200" b="0" dirty="0">
                <a:solidFill>
                  <a:srgbClr val="333333"/>
                </a:solidFill>
              </a:rPr>
              <a:t>.</a:t>
            </a:r>
            <a:endParaRPr sz="1200" b="0" dirty="0">
              <a:solidFill>
                <a:srgbClr val="333333"/>
              </a:solidFill>
            </a:endParaRPr>
          </a:p>
        </p:txBody>
      </p:sp>
      <p:sp>
        <p:nvSpPr>
          <p:cNvPr id="27" name="TextBox 26"/>
          <p:cNvSpPr txBox="1"/>
          <p:nvPr/>
        </p:nvSpPr>
        <p:spPr>
          <a:xfrm>
            <a:off x="8778240" y="6812280"/>
            <a:ext cx="5577840" cy="329184"/>
          </a:xfrm>
          <a:prstGeom prst="rect">
            <a:avLst/>
          </a:prstGeom>
          <a:noFill/>
        </p:spPr>
        <p:txBody>
          <a:bodyPr wrap="square">
            <a:spAutoFit/>
          </a:bodyPr>
          <a:lstStyle/>
          <a:p>
            <a:r>
              <a:rPr sz="1300" b="1">
                <a:solidFill>
                  <a:srgbClr val="0066CC"/>
                </a:solidFill>
              </a:rPr>
              <a:t>▸  Next: regularisation or dropout</a:t>
            </a:r>
          </a:p>
        </p:txBody>
      </p:sp>
      <p:sp>
        <p:nvSpPr>
          <p:cNvPr id="28" name="TextBox 27"/>
          <p:cNvSpPr txBox="1"/>
          <p:nvPr/>
        </p:nvSpPr>
        <p:spPr>
          <a:xfrm>
            <a:off x="9052560" y="7123176"/>
            <a:ext cx="5303520" cy="461665"/>
          </a:xfrm>
          <a:prstGeom prst="rect">
            <a:avLst/>
          </a:prstGeom>
          <a:noFill/>
        </p:spPr>
        <p:txBody>
          <a:bodyPr wrap="square">
            <a:spAutoFit/>
          </a:bodyPr>
          <a:lstStyle/>
          <a:p>
            <a:r>
              <a:rPr sz="1200" b="0" dirty="0">
                <a:solidFill>
                  <a:srgbClr val="333333"/>
                </a:solidFill>
              </a:rPr>
              <a:t>To close the train/</a:t>
            </a:r>
            <a:r>
              <a:rPr sz="1200" b="0" dirty="0" err="1">
                <a:solidFill>
                  <a:srgbClr val="333333"/>
                </a:solidFill>
              </a:rPr>
              <a:t>val</a:t>
            </a:r>
            <a:r>
              <a:rPr sz="1200" b="0" dirty="0">
                <a:solidFill>
                  <a:srgbClr val="333333"/>
                </a:solidFill>
              </a:rPr>
              <a:t> gap, </a:t>
            </a:r>
            <a:r>
              <a:rPr lang="en-US" sz="1200" b="0" dirty="0">
                <a:solidFill>
                  <a:srgbClr val="333333"/>
                </a:solidFill>
              </a:rPr>
              <a:t>we may</a:t>
            </a:r>
            <a:r>
              <a:rPr sz="1200" b="0" dirty="0">
                <a:solidFill>
                  <a:srgbClr val="333333"/>
                </a:solidFill>
              </a:rPr>
              <a:t> </a:t>
            </a:r>
            <a:r>
              <a:rPr lang="en-US" sz="1200" b="0" dirty="0">
                <a:solidFill>
                  <a:srgbClr val="333333"/>
                </a:solidFill>
              </a:rPr>
              <a:t>add</a:t>
            </a:r>
            <a:r>
              <a:rPr sz="1200" b="0" dirty="0">
                <a:solidFill>
                  <a:srgbClr val="333333"/>
                </a:solidFill>
              </a:rPr>
              <a:t> dropout to the GRU hidden state or increasing weight decay. The model </a:t>
            </a:r>
            <a:r>
              <a:rPr lang="en-US" sz="1200" b="0" dirty="0">
                <a:solidFill>
                  <a:srgbClr val="333333"/>
                </a:solidFill>
              </a:rPr>
              <a:t>i</a:t>
            </a:r>
            <a:r>
              <a:rPr sz="1200" b="0" dirty="0">
                <a:solidFill>
                  <a:srgbClr val="333333"/>
                </a:solidFill>
              </a:rPr>
              <a:t>nsufficient regulari</a:t>
            </a:r>
            <a:r>
              <a:rPr lang="en-US" sz="1200" b="0" dirty="0">
                <a:solidFill>
                  <a:srgbClr val="333333"/>
                </a:solidFill>
              </a:rPr>
              <a:t>z</a:t>
            </a:r>
            <a:r>
              <a:rPr sz="1200" b="0" dirty="0">
                <a:solidFill>
                  <a:srgbClr val="333333"/>
                </a:solidFill>
              </a:rPr>
              <a:t>ation for this dataset size.</a:t>
            </a:r>
          </a:p>
        </p:txBody>
      </p:sp>
      <p:sp>
        <p:nvSpPr>
          <p:cNvPr id="3" name="Rectangle 2">
            <a:extLst>
              <a:ext uri="{FF2B5EF4-FFF2-40B4-BE49-F238E27FC236}">
                <a16:creationId xmlns:a16="http://schemas.microsoft.com/office/drawing/2014/main" id="{4DB249B0-6D22-ACD4-2DF6-B4D0D25E234C}"/>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301E97E-A7DE-224C-4A30-217B5764DEB2}"/>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07150"/>
            <a:ext cx="8706207" cy="740688"/>
          </a:xfrm>
          <a:prstGeom prst="rect">
            <a:avLst/>
          </a:prstGeom>
          <a:noFill/>
          <a:ln/>
        </p:spPr>
        <p:txBody>
          <a:bodyPr wrap="none" lIns="0" tIns="0" rIns="0" bIns="0" rtlCol="0" anchor="t"/>
          <a:lstStyle/>
          <a:p>
            <a:pPr marL="0" indent="0" algn="l">
              <a:lnSpc>
                <a:spcPts val="5800"/>
              </a:lnSpc>
              <a:buNone/>
            </a:pPr>
            <a:r>
              <a:rPr lang="en-US" sz="4650" b="1" dirty="0">
                <a:solidFill>
                  <a:srgbClr val="0066CC"/>
                </a:solidFill>
                <a:latin typeface="Calibri" panose="020F0502020204030204" pitchFamily="34" charset="0"/>
                <a:ea typeface="Petrona Bold" pitchFamily="34" charset="-122"/>
                <a:cs typeface="Calibri" panose="020F0502020204030204" pitchFamily="34" charset="0"/>
              </a:rPr>
              <a:t>Hyperparameter Tuning Results</a:t>
            </a:r>
            <a:endParaRPr lang="en-US" sz="4650" dirty="0">
              <a:latin typeface="Calibri" panose="020F0502020204030204" pitchFamily="34" charset="0"/>
              <a:cs typeface="Calibri" panose="020F0502020204030204" pitchFamily="34" charset="0"/>
            </a:endParaRPr>
          </a:p>
        </p:txBody>
      </p:sp>
      <p:sp>
        <p:nvSpPr>
          <p:cNvPr id="3" name="Text 1"/>
          <p:cNvSpPr/>
          <p:nvPr/>
        </p:nvSpPr>
        <p:spPr>
          <a:xfrm>
            <a:off x="793790" y="2157174"/>
            <a:ext cx="13042821"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288-configuration grid search over all six loss penalty weights, target volatility, and window length. ~19 minutes total runtime.</a:t>
            </a:r>
            <a:endParaRPr lang="en-US" sz="1650" dirty="0">
              <a:latin typeface="Calibri" panose="020F0502020204030204" pitchFamily="34" charset="0"/>
              <a:cs typeface="Calibri" panose="020F0502020204030204" pitchFamily="34" charset="0"/>
            </a:endParaRPr>
          </a:p>
        </p:txBody>
      </p:sp>
      <p:sp>
        <p:nvSpPr>
          <p:cNvPr id="4" name="Shape 2"/>
          <p:cNvSpPr/>
          <p:nvPr/>
        </p:nvSpPr>
        <p:spPr>
          <a:xfrm>
            <a:off x="793790" y="2723555"/>
            <a:ext cx="13042821" cy="3596402"/>
          </a:xfrm>
          <a:prstGeom prst="roundRect">
            <a:avLst>
              <a:gd name="adj" fmla="val 2517"/>
            </a:avLst>
          </a:prstGeom>
          <a:noFill/>
          <a:ln w="7620">
            <a:solidFill>
              <a:srgbClr val="000000">
                <a:alpha val="8000"/>
              </a:srgbClr>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5" name="Shape 3"/>
          <p:cNvSpPr/>
          <p:nvPr/>
        </p:nvSpPr>
        <p:spPr>
          <a:xfrm>
            <a:off x="801410" y="2731175"/>
            <a:ext cx="13027581" cy="596860"/>
          </a:xfrm>
          <a:prstGeom prst="rect">
            <a:avLst/>
          </a:prstGeom>
          <a:solidFill>
            <a:srgbClr val="FFFFFF">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6" name="Text 4"/>
          <p:cNvSpPr/>
          <p:nvPr/>
        </p:nvSpPr>
        <p:spPr>
          <a:xfrm>
            <a:off x="1016913" y="2861548"/>
            <a:ext cx="4125039" cy="336113"/>
          </a:xfrm>
          <a:prstGeom prst="rect">
            <a:avLst/>
          </a:prstGeom>
          <a:noFill/>
          <a:ln/>
        </p:spPr>
        <p:txBody>
          <a:bodyPr wrap="none" lIns="0" tIns="0" rIns="0" bIns="0" rtlCol="0" anchor="t"/>
          <a:lstStyle/>
          <a:p>
            <a:pPr marL="0" indent="0" algn="l">
              <a:lnSpc>
                <a:spcPts val="2600"/>
              </a:lnSpc>
              <a:buNone/>
            </a:pPr>
            <a:r>
              <a:rPr lang="en-US" sz="1650" b="1" dirty="0">
                <a:solidFill>
                  <a:srgbClr val="272525"/>
                </a:solidFill>
                <a:latin typeface="Calibri" panose="020F0502020204030204" pitchFamily="34" charset="0"/>
                <a:ea typeface="Inter" pitchFamily="34" charset="-122"/>
                <a:cs typeface="Calibri" panose="020F0502020204030204" pitchFamily="34" charset="0"/>
              </a:rPr>
              <a:t>Parameter</a:t>
            </a:r>
            <a:endParaRPr lang="en-US" sz="1650" dirty="0">
              <a:latin typeface="Calibri" panose="020F0502020204030204" pitchFamily="34" charset="0"/>
              <a:cs typeface="Calibri" panose="020F0502020204030204" pitchFamily="34" charset="0"/>
            </a:endParaRPr>
          </a:p>
        </p:txBody>
      </p:sp>
      <p:sp>
        <p:nvSpPr>
          <p:cNvPr id="7" name="Text 5"/>
          <p:cNvSpPr/>
          <p:nvPr/>
        </p:nvSpPr>
        <p:spPr>
          <a:xfrm>
            <a:off x="5580340" y="2861548"/>
            <a:ext cx="3469838" cy="336113"/>
          </a:xfrm>
          <a:prstGeom prst="rect">
            <a:avLst/>
          </a:prstGeom>
          <a:noFill/>
          <a:ln/>
        </p:spPr>
        <p:txBody>
          <a:bodyPr wrap="none" lIns="0" tIns="0" rIns="0" bIns="0" rtlCol="0" anchor="t"/>
          <a:lstStyle/>
          <a:p>
            <a:pPr marL="0" indent="0" algn="l">
              <a:lnSpc>
                <a:spcPts val="2600"/>
              </a:lnSpc>
              <a:buNone/>
            </a:pPr>
            <a:r>
              <a:rPr lang="en-US" sz="1650" b="1" dirty="0">
                <a:solidFill>
                  <a:srgbClr val="272525"/>
                </a:solidFill>
                <a:latin typeface="Calibri" panose="020F0502020204030204" pitchFamily="34" charset="0"/>
                <a:ea typeface="Inter" pitchFamily="34" charset="-122"/>
                <a:cs typeface="Calibri" panose="020F0502020204030204" pitchFamily="34" charset="0"/>
              </a:rPr>
              <a:t>Previous (Hardcoded)</a:t>
            </a:r>
            <a:endParaRPr lang="en-US" sz="1650" dirty="0">
              <a:latin typeface="Calibri" panose="020F0502020204030204" pitchFamily="34" charset="0"/>
              <a:cs typeface="Calibri" panose="020F0502020204030204" pitchFamily="34" charset="0"/>
            </a:endParaRPr>
          </a:p>
        </p:txBody>
      </p:sp>
      <p:sp>
        <p:nvSpPr>
          <p:cNvPr id="8" name="Text 6"/>
          <p:cNvSpPr/>
          <p:nvPr/>
        </p:nvSpPr>
        <p:spPr>
          <a:xfrm>
            <a:off x="9488567" y="2861548"/>
            <a:ext cx="4125039" cy="336113"/>
          </a:xfrm>
          <a:prstGeom prst="rect">
            <a:avLst/>
          </a:prstGeom>
          <a:noFill/>
          <a:ln/>
        </p:spPr>
        <p:txBody>
          <a:bodyPr wrap="none" lIns="0" tIns="0" rIns="0" bIns="0" rtlCol="0" anchor="t"/>
          <a:lstStyle/>
          <a:p>
            <a:pPr marL="0" indent="0" algn="l">
              <a:lnSpc>
                <a:spcPts val="2600"/>
              </a:lnSpc>
              <a:buNone/>
            </a:pPr>
            <a:r>
              <a:rPr lang="en-US" sz="1650" b="1" dirty="0">
                <a:solidFill>
                  <a:srgbClr val="272525"/>
                </a:solidFill>
                <a:latin typeface="Calibri" panose="020F0502020204030204" pitchFamily="34" charset="0"/>
                <a:ea typeface="Inter" pitchFamily="34" charset="-122"/>
                <a:cs typeface="Calibri" panose="020F0502020204030204" pitchFamily="34" charset="0"/>
              </a:rPr>
              <a:t>Tuned (Best)</a:t>
            </a:r>
            <a:endParaRPr lang="en-US" sz="1650" dirty="0">
              <a:latin typeface="Calibri" panose="020F0502020204030204" pitchFamily="34" charset="0"/>
              <a:cs typeface="Calibri" panose="020F0502020204030204" pitchFamily="34" charset="0"/>
            </a:endParaRPr>
          </a:p>
        </p:txBody>
      </p:sp>
      <p:sp>
        <p:nvSpPr>
          <p:cNvPr id="9" name="Shape 7"/>
          <p:cNvSpPr/>
          <p:nvPr/>
        </p:nvSpPr>
        <p:spPr>
          <a:xfrm>
            <a:off x="801410" y="3328035"/>
            <a:ext cx="13027581" cy="596860"/>
          </a:xfrm>
          <a:prstGeom prst="rect">
            <a:avLst/>
          </a:prstGeom>
          <a:solidFill>
            <a:srgbClr val="000000">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10" name="Text 8"/>
          <p:cNvSpPr/>
          <p:nvPr/>
        </p:nvSpPr>
        <p:spPr>
          <a:xfrm>
            <a:off x="1016913" y="3458408"/>
            <a:ext cx="4125039"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λ_turnover</a:t>
            </a:r>
            <a:endParaRPr lang="en-US" sz="1650" dirty="0">
              <a:latin typeface="Calibri" panose="020F0502020204030204" pitchFamily="34" charset="0"/>
              <a:cs typeface="Calibri" panose="020F0502020204030204" pitchFamily="34" charset="0"/>
            </a:endParaRPr>
          </a:p>
        </p:txBody>
      </p:sp>
      <p:sp>
        <p:nvSpPr>
          <p:cNvPr id="11" name="Text 9"/>
          <p:cNvSpPr/>
          <p:nvPr/>
        </p:nvSpPr>
        <p:spPr>
          <a:xfrm>
            <a:off x="5580340" y="3458408"/>
            <a:ext cx="3469838"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0.01</a:t>
            </a:r>
            <a:endParaRPr lang="en-US" sz="1650" dirty="0">
              <a:latin typeface="Calibri" panose="020F0502020204030204" pitchFamily="34" charset="0"/>
              <a:cs typeface="Calibri" panose="020F0502020204030204" pitchFamily="34" charset="0"/>
            </a:endParaRPr>
          </a:p>
        </p:txBody>
      </p:sp>
      <p:sp>
        <p:nvSpPr>
          <p:cNvPr id="12" name="Text 10"/>
          <p:cNvSpPr/>
          <p:nvPr/>
        </p:nvSpPr>
        <p:spPr>
          <a:xfrm>
            <a:off x="9488567" y="3458408"/>
            <a:ext cx="4125039" cy="336113"/>
          </a:xfrm>
          <a:prstGeom prst="rect">
            <a:avLst/>
          </a:prstGeom>
          <a:noFill/>
          <a:ln/>
        </p:spPr>
        <p:txBody>
          <a:bodyPr wrap="none" lIns="0" tIns="0" rIns="0" bIns="0" rtlCol="0" anchor="t"/>
          <a:lstStyle/>
          <a:p>
            <a:pPr marL="0" indent="0" algn="l">
              <a:lnSpc>
                <a:spcPts val="2600"/>
              </a:lnSpc>
              <a:buNone/>
            </a:pPr>
            <a:r>
              <a:rPr lang="en-US" sz="1650" b="1" dirty="0">
                <a:solidFill>
                  <a:srgbClr val="6237C8"/>
                </a:solidFill>
                <a:latin typeface="Calibri" panose="020F0502020204030204" pitchFamily="34" charset="0"/>
                <a:ea typeface="Inter" pitchFamily="34" charset="-122"/>
                <a:cs typeface="Calibri" panose="020F0502020204030204" pitchFamily="34" charset="0"/>
              </a:rPr>
              <a:t>0.0025</a:t>
            </a:r>
            <a:endParaRPr lang="en-US" sz="1650" dirty="0">
              <a:latin typeface="Calibri" panose="020F0502020204030204" pitchFamily="34" charset="0"/>
              <a:cs typeface="Calibri" panose="020F0502020204030204" pitchFamily="34" charset="0"/>
            </a:endParaRPr>
          </a:p>
        </p:txBody>
      </p:sp>
      <p:sp>
        <p:nvSpPr>
          <p:cNvPr id="13" name="Shape 11"/>
          <p:cNvSpPr/>
          <p:nvPr/>
        </p:nvSpPr>
        <p:spPr>
          <a:xfrm>
            <a:off x="801410" y="3924895"/>
            <a:ext cx="13027581" cy="596860"/>
          </a:xfrm>
          <a:prstGeom prst="rect">
            <a:avLst/>
          </a:prstGeom>
          <a:solidFill>
            <a:srgbClr val="FFFFFF">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14" name="Text 12"/>
          <p:cNvSpPr/>
          <p:nvPr/>
        </p:nvSpPr>
        <p:spPr>
          <a:xfrm>
            <a:off x="1016913" y="4055269"/>
            <a:ext cx="4125039"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λ_path</a:t>
            </a:r>
            <a:endParaRPr lang="en-US" sz="1650" dirty="0">
              <a:latin typeface="Calibri" panose="020F0502020204030204" pitchFamily="34" charset="0"/>
              <a:cs typeface="Calibri" panose="020F0502020204030204" pitchFamily="34" charset="0"/>
            </a:endParaRPr>
          </a:p>
        </p:txBody>
      </p:sp>
      <p:sp>
        <p:nvSpPr>
          <p:cNvPr id="15" name="Text 13"/>
          <p:cNvSpPr/>
          <p:nvPr/>
        </p:nvSpPr>
        <p:spPr>
          <a:xfrm>
            <a:off x="5580340" y="4055269"/>
            <a:ext cx="3469838"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0.01</a:t>
            </a:r>
            <a:endParaRPr lang="en-US" sz="1650" dirty="0">
              <a:latin typeface="Calibri" panose="020F0502020204030204" pitchFamily="34" charset="0"/>
              <a:cs typeface="Calibri" panose="020F0502020204030204" pitchFamily="34" charset="0"/>
            </a:endParaRPr>
          </a:p>
        </p:txBody>
      </p:sp>
      <p:sp>
        <p:nvSpPr>
          <p:cNvPr id="16" name="Text 14"/>
          <p:cNvSpPr/>
          <p:nvPr/>
        </p:nvSpPr>
        <p:spPr>
          <a:xfrm>
            <a:off x="9488567" y="4055269"/>
            <a:ext cx="4125039" cy="336113"/>
          </a:xfrm>
          <a:prstGeom prst="rect">
            <a:avLst/>
          </a:prstGeom>
          <a:noFill/>
          <a:ln/>
        </p:spPr>
        <p:txBody>
          <a:bodyPr wrap="none" lIns="0" tIns="0" rIns="0" bIns="0" rtlCol="0" anchor="t"/>
          <a:lstStyle/>
          <a:p>
            <a:pPr marL="0" indent="0" algn="l">
              <a:lnSpc>
                <a:spcPts val="2600"/>
              </a:lnSpc>
              <a:buNone/>
            </a:pPr>
            <a:r>
              <a:rPr lang="en-US" sz="1650" b="1" dirty="0">
                <a:solidFill>
                  <a:srgbClr val="6237C8"/>
                </a:solidFill>
                <a:latin typeface="Calibri" panose="020F0502020204030204" pitchFamily="34" charset="0"/>
                <a:ea typeface="Inter" pitchFamily="34" charset="-122"/>
                <a:cs typeface="Calibri" panose="020F0502020204030204" pitchFamily="34" charset="0"/>
              </a:rPr>
              <a:t>0.01</a:t>
            </a:r>
            <a:endParaRPr lang="en-US" sz="1650" dirty="0">
              <a:latin typeface="Calibri" panose="020F0502020204030204" pitchFamily="34" charset="0"/>
              <a:cs typeface="Calibri" panose="020F0502020204030204" pitchFamily="34" charset="0"/>
            </a:endParaRPr>
          </a:p>
        </p:txBody>
      </p:sp>
      <p:sp>
        <p:nvSpPr>
          <p:cNvPr id="17" name="Shape 15"/>
          <p:cNvSpPr/>
          <p:nvPr/>
        </p:nvSpPr>
        <p:spPr>
          <a:xfrm>
            <a:off x="801410" y="4521756"/>
            <a:ext cx="13027581" cy="596860"/>
          </a:xfrm>
          <a:prstGeom prst="rect">
            <a:avLst/>
          </a:prstGeom>
          <a:solidFill>
            <a:srgbClr val="000000">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18" name="Text 16"/>
          <p:cNvSpPr/>
          <p:nvPr/>
        </p:nvSpPr>
        <p:spPr>
          <a:xfrm>
            <a:off x="1016913" y="4652129"/>
            <a:ext cx="4125039"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λ_vol</a:t>
            </a:r>
            <a:endParaRPr lang="en-US" sz="1650" dirty="0">
              <a:latin typeface="Calibri" panose="020F0502020204030204" pitchFamily="34" charset="0"/>
              <a:cs typeface="Calibri" panose="020F0502020204030204" pitchFamily="34" charset="0"/>
            </a:endParaRPr>
          </a:p>
        </p:txBody>
      </p:sp>
      <p:sp>
        <p:nvSpPr>
          <p:cNvPr id="19" name="Text 17"/>
          <p:cNvSpPr/>
          <p:nvPr/>
        </p:nvSpPr>
        <p:spPr>
          <a:xfrm>
            <a:off x="5580340" y="4652129"/>
            <a:ext cx="3469838"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0.5</a:t>
            </a:r>
            <a:endParaRPr lang="en-US" sz="1650" dirty="0">
              <a:latin typeface="Calibri" panose="020F0502020204030204" pitchFamily="34" charset="0"/>
              <a:cs typeface="Calibri" panose="020F0502020204030204" pitchFamily="34" charset="0"/>
            </a:endParaRPr>
          </a:p>
        </p:txBody>
      </p:sp>
      <p:sp>
        <p:nvSpPr>
          <p:cNvPr id="20" name="Text 18"/>
          <p:cNvSpPr/>
          <p:nvPr/>
        </p:nvSpPr>
        <p:spPr>
          <a:xfrm>
            <a:off x="9488567" y="4652129"/>
            <a:ext cx="4125039" cy="336113"/>
          </a:xfrm>
          <a:prstGeom prst="rect">
            <a:avLst/>
          </a:prstGeom>
          <a:noFill/>
          <a:ln/>
        </p:spPr>
        <p:txBody>
          <a:bodyPr wrap="none" lIns="0" tIns="0" rIns="0" bIns="0" rtlCol="0" anchor="t"/>
          <a:lstStyle/>
          <a:p>
            <a:pPr marL="0" indent="0" algn="l">
              <a:lnSpc>
                <a:spcPts val="2600"/>
              </a:lnSpc>
              <a:buNone/>
            </a:pPr>
            <a:r>
              <a:rPr lang="en-US" sz="1650" b="1" dirty="0">
                <a:solidFill>
                  <a:srgbClr val="6237C8"/>
                </a:solidFill>
                <a:latin typeface="Calibri" panose="020F0502020204030204" pitchFamily="34" charset="0"/>
                <a:ea typeface="Inter" pitchFamily="34" charset="-122"/>
                <a:cs typeface="Calibri" panose="020F0502020204030204" pitchFamily="34" charset="0"/>
              </a:rPr>
              <a:t>1.0</a:t>
            </a:r>
            <a:endParaRPr lang="en-US" sz="1650" dirty="0">
              <a:latin typeface="Calibri" panose="020F0502020204030204" pitchFamily="34" charset="0"/>
              <a:cs typeface="Calibri" panose="020F0502020204030204" pitchFamily="34" charset="0"/>
            </a:endParaRPr>
          </a:p>
        </p:txBody>
      </p:sp>
      <p:sp>
        <p:nvSpPr>
          <p:cNvPr id="21" name="Shape 19"/>
          <p:cNvSpPr/>
          <p:nvPr/>
        </p:nvSpPr>
        <p:spPr>
          <a:xfrm>
            <a:off x="801410" y="5118616"/>
            <a:ext cx="13027581" cy="596860"/>
          </a:xfrm>
          <a:prstGeom prst="rect">
            <a:avLst/>
          </a:prstGeom>
          <a:solidFill>
            <a:srgbClr val="FFFFFF">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22" name="Text 20"/>
          <p:cNvSpPr/>
          <p:nvPr/>
        </p:nvSpPr>
        <p:spPr>
          <a:xfrm>
            <a:off x="1016913" y="5248989"/>
            <a:ext cx="4125039"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λ_cvar</a:t>
            </a:r>
            <a:endParaRPr lang="en-US" sz="1650" dirty="0">
              <a:latin typeface="Calibri" panose="020F0502020204030204" pitchFamily="34" charset="0"/>
              <a:cs typeface="Calibri" panose="020F0502020204030204" pitchFamily="34" charset="0"/>
            </a:endParaRPr>
          </a:p>
        </p:txBody>
      </p:sp>
      <p:sp>
        <p:nvSpPr>
          <p:cNvPr id="23" name="Text 21"/>
          <p:cNvSpPr/>
          <p:nvPr/>
        </p:nvSpPr>
        <p:spPr>
          <a:xfrm>
            <a:off x="5580340" y="5248989"/>
            <a:ext cx="3469838"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0.5–1.0</a:t>
            </a:r>
            <a:endParaRPr lang="en-US" sz="1650" dirty="0">
              <a:latin typeface="Calibri" panose="020F0502020204030204" pitchFamily="34" charset="0"/>
              <a:cs typeface="Calibri" panose="020F0502020204030204" pitchFamily="34" charset="0"/>
            </a:endParaRPr>
          </a:p>
        </p:txBody>
      </p:sp>
      <p:sp>
        <p:nvSpPr>
          <p:cNvPr id="24" name="Text 22"/>
          <p:cNvSpPr/>
          <p:nvPr/>
        </p:nvSpPr>
        <p:spPr>
          <a:xfrm>
            <a:off x="9488567" y="5248989"/>
            <a:ext cx="4125039" cy="336113"/>
          </a:xfrm>
          <a:prstGeom prst="rect">
            <a:avLst/>
          </a:prstGeom>
          <a:noFill/>
          <a:ln/>
        </p:spPr>
        <p:txBody>
          <a:bodyPr wrap="none" lIns="0" tIns="0" rIns="0" bIns="0" rtlCol="0" anchor="t"/>
          <a:lstStyle/>
          <a:p>
            <a:pPr marL="0" indent="0" algn="l">
              <a:lnSpc>
                <a:spcPts val="2600"/>
              </a:lnSpc>
              <a:buNone/>
            </a:pPr>
            <a:r>
              <a:rPr lang="en-US" sz="1650" b="1" dirty="0">
                <a:solidFill>
                  <a:srgbClr val="6237C8"/>
                </a:solidFill>
                <a:latin typeface="Calibri" panose="020F0502020204030204" pitchFamily="34" charset="0"/>
                <a:ea typeface="Inter" pitchFamily="34" charset="-122"/>
                <a:cs typeface="Calibri" panose="020F0502020204030204" pitchFamily="34" charset="0"/>
              </a:rPr>
              <a:t>1.0</a:t>
            </a:r>
            <a:endParaRPr lang="en-US" sz="1650" dirty="0">
              <a:latin typeface="Calibri" panose="020F0502020204030204" pitchFamily="34" charset="0"/>
              <a:cs typeface="Calibri" panose="020F0502020204030204" pitchFamily="34" charset="0"/>
            </a:endParaRPr>
          </a:p>
        </p:txBody>
      </p:sp>
      <p:sp>
        <p:nvSpPr>
          <p:cNvPr id="25" name="Shape 23"/>
          <p:cNvSpPr/>
          <p:nvPr/>
        </p:nvSpPr>
        <p:spPr>
          <a:xfrm>
            <a:off x="801410" y="5715476"/>
            <a:ext cx="13027581" cy="596860"/>
          </a:xfrm>
          <a:prstGeom prst="rect">
            <a:avLst/>
          </a:prstGeom>
          <a:solidFill>
            <a:srgbClr val="000000">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26" name="Text 24"/>
          <p:cNvSpPr/>
          <p:nvPr/>
        </p:nvSpPr>
        <p:spPr>
          <a:xfrm>
            <a:off x="1016913" y="5845850"/>
            <a:ext cx="4125039"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window_len</a:t>
            </a:r>
            <a:endParaRPr lang="en-US" sz="1650" dirty="0">
              <a:latin typeface="Calibri" panose="020F0502020204030204" pitchFamily="34" charset="0"/>
              <a:cs typeface="Calibri" panose="020F0502020204030204" pitchFamily="34" charset="0"/>
            </a:endParaRPr>
          </a:p>
        </p:txBody>
      </p:sp>
      <p:sp>
        <p:nvSpPr>
          <p:cNvPr id="27" name="Text 25"/>
          <p:cNvSpPr/>
          <p:nvPr/>
        </p:nvSpPr>
        <p:spPr>
          <a:xfrm>
            <a:off x="5580340" y="5845850"/>
            <a:ext cx="3469838"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126 days</a:t>
            </a:r>
            <a:endParaRPr lang="en-US" sz="1650" dirty="0">
              <a:latin typeface="Calibri" panose="020F0502020204030204" pitchFamily="34" charset="0"/>
              <a:cs typeface="Calibri" panose="020F0502020204030204" pitchFamily="34" charset="0"/>
            </a:endParaRPr>
          </a:p>
        </p:txBody>
      </p:sp>
      <p:sp>
        <p:nvSpPr>
          <p:cNvPr id="28" name="Text 26"/>
          <p:cNvSpPr/>
          <p:nvPr/>
        </p:nvSpPr>
        <p:spPr>
          <a:xfrm>
            <a:off x="9488567" y="5845850"/>
            <a:ext cx="4125039" cy="336113"/>
          </a:xfrm>
          <a:prstGeom prst="rect">
            <a:avLst/>
          </a:prstGeom>
          <a:noFill/>
          <a:ln/>
        </p:spPr>
        <p:txBody>
          <a:bodyPr wrap="none" lIns="0" tIns="0" rIns="0" bIns="0" rtlCol="0" anchor="t"/>
          <a:lstStyle/>
          <a:p>
            <a:pPr marL="0" indent="0" algn="l">
              <a:lnSpc>
                <a:spcPts val="2600"/>
              </a:lnSpc>
              <a:buNone/>
            </a:pPr>
            <a:r>
              <a:rPr lang="en-US" sz="1650" b="1" dirty="0">
                <a:solidFill>
                  <a:srgbClr val="6237C8"/>
                </a:solidFill>
                <a:latin typeface="Calibri" panose="020F0502020204030204" pitchFamily="34" charset="0"/>
                <a:ea typeface="Inter" pitchFamily="34" charset="-122"/>
                <a:cs typeface="Calibri" panose="020F0502020204030204" pitchFamily="34" charset="0"/>
              </a:rPr>
              <a:t>84 days</a:t>
            </a:r>
            <a:endParaRPr lang="en-US" sz="1650" dirty="0">
              <a:latin typeface="Calibri" panose="020F0502020204030204" pitchFamily="34" charset="0"/>
              <a:cs typeface="Calibri" panose="020F0502020204030204" pitchFamily="34" charset="0"/>
            </a:endParaRPr>
          </a:p>
        </p:txBody>
      </p:sp>
      <p:sp>
        <p:nvSpPr>
          <p:cNvPr id="29" name="Text 27"/>
          <p:cNvSpPr/>
          <p:nvPr/>
        </p:nvSpPr>
        <p:spPr>
          <a:xfrm>
            <a:off x="793790" y="6550223"/>
            <a:ext cx="13042821"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Calibri" panose="020F0502020204030204" pitchFamily="34" charset="0"/>
                <a:ea typeface="Inter" pitchFamily="34" charset="-122"/>
                <a:cs typeface="Calibri" panose="020F0502020204030204" pitchFamily="34" charset="0"/>
              </a:rPr>
              <a:t>Reducing turnover penalty from 0.01 → 0.0025 allowed more active rebalancing. Heavier risk penalties kept volatility controlled. Shorter 84-day lookback outperformed 126 days. Training converges in ~4 effective epochs (11 total with early stopping).</a:t>
            </a:r>
            <a:endParaRPr lang="en-US" sz="1650"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35A181B4-B1EF-975F-D569-C1136CCC1A3E}"/>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BAE81DBC-B439-E82A-52F0-CEED3606B6A9}"/>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030610B9-6083-FA32-7A1E-39229E8E6D67}"/>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0094" y="972026"/>
            <a:ext cx="8275201" cy="662940"/>
          </a:xfrm>
          <a:prstGeom prst="rect">
            <a:avLst/>
          </a:prstGeom>
          <a:noFill/>
          <a:ln/>
        </p:spPr>
        <p:txBody>
          <a:bodyPr wrap="none" lIns="0" tIns="0" rIns="0" bIns="0" rtlCol="0" anchor="t"/>
          <a:lstStyle/>
          <a:p>
            <a:pPr marL="0" indent="0" algn="l">
              <a:lnSpc>
                <a:spcPts val="5200"/>
              </a:lnSpc>
              <a:buNone/>
            </a:pPr>
            <a:r>
              <a:rPr lang="en-US" sz="4150" b="1" dirty="0">
                <a:solidFill>
                  <a:srgbClr val="0066CC"/>
                </a:solidFill>
                <a:latin typeface="Calibri" panose="020F0502020204030204" pitchFamily="34" charset="0"/>
                <a:ea typeface="Petrona Bold" pitchFamily="34" charset="-122"/>
                <a:cs typeface="Calibri" panose="020F0502020204030204" pitchFamily="34" charset="0"/>
              </a:rPr>
              <a:t>Results: Performance Comparison</a:t>
            </a:r>
            <a:endParaRPr lang="en-US" sz="4150" dirty="0">
              <a:latin typeface="Calibri" panose="020F0502020204030204" pitchFamily="34" charset="0"/>
              <a:cs typeface="Calibri" panose="020F0502020204030204" pitchFamily="34" charset="0"/>
            </a:endParaRPr>
          </a:p>
        </p:txBody>
      </p:sp>
      <p:sp>
        <p:nvSpPr>
          <p:cNvPr id="3" name="Text 1"/>
          <p:cNvSpPr/>
          <p:nvPr/>
        </p:nvSpPr>
        <p:spPr>
          <a:xfrm>
            <a:off x="750094" y="1962983"/>
            <a:ext cx="13130213"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Validation period: January–December 2024</a:t>
            </a:r>
            <a:endParaRPr lang="en-US" sz="1500" dirty="0">
              <a:latin typeface="Calibri" panose="020F0502020204030204" pitchFamily="34" charset="0"/>
              <a:cs typeface="Calibri" panose="020F0502020204030204" pitchFamily="34" charset="0"/>
            </a:endParaRPr>
          </a:p>
        </p:txBody>
      </p:sp>
      <p:sp>
        <p:nvSpPr>
          <p:cNvPr id="4" name="Shape 2"/>
          <p:cNvSpPr/>
          <p:nvPr/>
        </p:nvSpPr>
        <p:spPr>
          <a:xfrm>
            <a:off x="750094" y="2432923"/>
            <a:ext cx="13130213" cy="2502456"/>
          </a:xfrm>
          <a:prstGeom prst="roundRect">
            <a:avLst>
              <a:gd name="adj" fmla="val 3237"/>
            </a:avLst>
          </a:prstGeom>
          <a:noFill/>
          <a:ln w="7620">
            <a:solidFill>
              <a:srgbClr val="000000">
                <a:alpha val="8000"/>
              </a:srgbClr>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5" name="Shape 3"/>
          <p:cNvSpPr/>
          <p:nvPr/>
        </p:nvSpPr>
        <p:spPr>
          <a:xfrm>
            <a:off x="757714" y="2440543"/>
            <a:ext cx="13114973" cy="497443"/>
          </a:xfrm>
          <a:prstGeom prst="rect">
            <a:avLst/>
          </a:prstGeom>
          <a:solidFill>
            <a:srgbClr val="FFFFFF">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6" name="Text 4"/>
          <p:cNvSpPr/>
          <p:nvPr/>
        </p:nvSpPr>
        <p:spPr>
          <a:xfrm>
            <a:off x="951071" y="2546509"/>
            <a:ext cx="2889171"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Strategy</a:t>
            </a:r>
            <a:endParaRPr lang="en-US" sz="1500" dirty="0">
              <a:latin typeface="Calibri" panose="020F0502020204030204" pitchFamily="34" charset="0"/>
              <a:cs typeface="Calibri" panose="020F0502020204030204" pitchFamily="34" charset="0"/>
            </a:endParaRPr>
          </a:p>
        </p:txBody>
      </p:sp>
      <p:sp>
        <p:nvSpPr>
          <p:cNvPr id="7" name="Text 5"/>
          <p:cNvSpPr/>
          <p:nvPr/>
        </p:nvSpPr>
        <p:spPr>
          <a:xfrm>
            <a:off x="4233624" y="2546509"/>
            <a:ext cx="1573768"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Total Return</a:t>
            </a:r>
            <a:endParaRPr lang="en-US" sz="1500" dirty="0">
              <a:latin typeface="Calibri" panose="020F0502020204030204" pitchFamily="34" charset="0"/>
              <a:cs typeface="Calibri" panose="020F0502020204030204" pitchFamily="34" charset="0"/>
            </a:endParaRPr>
          </a:p>
        </p:txBody>
      </p:sp>
      <p:sp>
        <p:nvSpPr>
          <p:cNvPr id="8" name="Text 6"/>
          <p:cNvSpPr/>
          <p:nvPr/>
        </p:nvSpPr>
        <p:spPr>
          <a:xfrm>
            <a:off x="6200775" y="2546509"/>
            <a:ext cx="1573768"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Ann. Return</a:t>
            </a:r>
            <a:endParaRPr lang="en-US" sz="1500" dirty="0">
              <a:latin typeface="Calibri" panose="020F0502020204030204" pitchFamily="34" charset="0"/>
              <a:cs typeface="Calibri" panose="020F0502020204030204" pitchFamily="34" charset="0"/>
            </a:endParaRPr>
          </a:p>
        </p:txBody>
      </p:sp>
      <p:sp>
        <p:nvSpPr>
          <p:cNvPr id="9" name="Text 7"/>
          <p:cNvSpPr/>
          <p:nvPr/>
        </p:nvSpPr>
        <p:spPr>
          <a:xfrm>
            <a:off x="8167926" y="2546509"/>
            <a:ext cx="1573768"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Ann. Vol</a:t>
            </a:r>
            <a:endParaRPr lang="en-US" sz="1500" dirty="0">
              <a:latin typeface="Calibri" panose="020F0502020204030204" pitchFamily="34" charset="0"/>
              <a:cs typeface="Calibri" panose="020F0502020204030204" pitchFamily="34" charset="0"/>
            </a:endParaRPr>
          </a:p>
        </p:txBody>
      </p:sp>
      <p:sp>
        <p:nvSpPr>
          <p:cNvPr id="10" name="Text 8"/>
          <p:cNvSpPr/>
          <p:nvPr/>
        </p:nvSpPr>
        <p:spPr>
          <a:xfrm>
            <a:off x="10135076" y="2546509"/>
            <a:ext cx="1573768"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Sharpe</a:t>
            </a:r>
            <a:endParaRPr lang="en-US" sz="1500" dirty="0">
              <a:latin typeface="Calibri" panose="020F0502020204030204" pitchFamily="34" charset="0"/>
              <a:cs typeface="Calibri" panose="020F0502020204030204" pitchFamily="34" charset="0"/>
            </a:endParaRPr>
          </a:p>
        </p:txBody>
      </p:sp>
      <p:sp>
        <p:nvSpPr>
          <p:cNvPr id="11" name="Text 9"/>
          <p:cNvSpPr/>
          <p:nvPr/>
        </p:nvSpPr>
        <p:spPr>
          <a:xfrm>
            <a:off x="12102227" y="2546509"/>
            <a:ext cx="1577578"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Max Drawdown</a:t>
            </a:r>
            <a:endParaRPr lang="en-US" sz="1500" dirty="0">
              <a:latin typeface="Calibri" panose="020F0502020204030204" pitchFamily="34" charset="0"/>
              <a:cs typeface="Calibri" panose="020F0502020204030204" pitchFamily="34" charset="0"/>
            </a:endParaRPr>
          </a:p>
        </p:txBody>
      </p:sp>
      <p:sp>
        <p:nvSpPr>
          <p:cNvPr id="12" name="Shape 10"/>
          <p:cNvSpPr/>
          <p:nvPr/>
        </p:nvSpPr>
        <p:spPr>
          <a:xfrm>
            <a:off x="757714" y="2937986"/>
            <a:ext cx="13114973" cy="497443"/>
          </a:xfrm>
          <a:prstGeom prst="rect">
            <a:avLst/>
          </a:prstGeom>
          <a:solidFill>
            <a:srgbClr val="000000">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13" name="Text 11"/>
          <p:cNvSpPr/>
          <p:nvPr/>
        </p:nvSpPr>
        <p:spPr>
          <a:xfrm>
            <a:off x="951071" y="3043952"/>
            <a:ext cx="2889171" cy="285512"/>
          </a:xfrm>
          <a:prstGeom prst="rect">
            <a:avLst/>
          </a:prstGeom>
          <a:noFill/>
          <a:ln/>
        </p:spPr>
        <p:txBody>
          <a:bodyPr wrap="none" lIns="0" tIns="0" rIns="0" bIns="0" rtlCol="0" anchor="t"/>
          <a:lstStyle/>
          <a:p>
            <a:pPr marL="0" indent="0" algn="l">
              <a:lnSpc>
                <a:spcPts val="2200"/>
              </a:lnSpc>
              <a:buNone/>
            </a:pPr>
            <a:r>
              <a:rPr lang="en-US" sz="1500" b="1" dirty="0">
                <a:solidFill>
                  <a:srgbClr val="6237C8"/>
                </a:solidFill>
                <a:latin typeface="Calibri" panose="020F0502020204030204" pitchFamily="34" charset="0"/>
                <a:ea typeface="Inter" pitchFamily="34" charset="-122"/>
                <a:cs typeface="Calibri" panose="020F0502020204030204" pitchFamily="34" charset="0"/>
              </a:rPr>
              <a:t>Model Portfolio</a:t>
            </a:r>
            <a:endParaRPr lang="en-US" sz="1500" dirty="0">
              <a:latin typeface="Calibri" panose="020F0502020204030204" pitchFamily="34" charset="0"/>
              <a:cs typeface="Calibri" panose="020F0502020204030204" pitchFamily="34" charset="0"/>
            </a:endParaRPr>
          </a:p>
        </p:txBody>
      </p:sp>
      <p:sp>
        <p:nvSpPr>
          <p:cNvPr id="14" name="Text 12"/>
          <p:cNvSpPr/>
          <p:nvPr/>
        </p:nvSpPr>
        <p:spPr>
          <a:xfrm>
            <a:off x="4233624" y="3043952"/>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58.81%</a:t>
            </a:r>
            <a:endParaRPr lang="en-US" sz="1500" dirty="0">
              <a:latin typeface="Calibri" panose="020F0502020204030204" pitchFamily="34" charset="0"/>
              <a:cs typeface="Calibri" panose="020F0502020204030204" pitchFamily="34" charset="0"/>
            </a:endParaRPr>
          </a:p>
        </p:txBody>
      </p:sp>
      <p:sp>
        <p:nvSpPr>
          <p:cNvPr id="15" name="Text 13"/>
          <p:cNvSpPr/>
          <p:nvPr/>
        </p:nvSpPr>
        <p:spPr>
          <a:xfrm>
            <a:off x="6200775" y="3043952"/>
            <a:ext cx="1573768"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65.27%</a:t>
            </a:r>
            <a:endParaRPr lang="en-US" sz="1500" dirty="0">
              <a:latin typeface="Calibri" panose="020F0502020204030204" pitchFamily="34" charset="0"/>
              <a:cs typeface="Calibri" panose="020F0502020204030204" pitchFamily="34" charset="0"/>
            </a:endParaRPr>
          </a:p>
        </p:txBody>
      </p:sp>
      <p:sp>
        <p:nvSpPr>
          <p:cNvPr id="16" name="Text 14"/>
          <p:cNvSpPr/>
          <p:nvPr/>
        </p:nvSpPr>
        <p:spPr>
          <a:xfrm>
            <a:off x="8167926" y="3043952"/>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15.74%</a:t>
            </a:r>
            <a:endParaRPr lang="en-US" sz="1500" dirty="0">
              <a:latin typeface="Calibri" panose="020F0502020204030204" pitchFamily="34" charset="0"/>
              <a:cs typeface="Calibri" panose="020F0502020204030204" pitchFamily="34" charset="0"/>
            </a:endParaRPr>
          </a:p>
        </p:txBody>
      </p:sp>
      <p:sp>
        <p:nvSpPr>
          <p:cNvPr id="17" name="Text 15"/>
          <p:cNvSpPr/>
          <p:nvPr/>
        </p:nvSpPr>
        <p:spPr>
          <a:xfrm>
            <a:off x="10135076" y="3043952"/>
            <a:ext cx="1573768" cy="285512"/>
          </a:xfrm>
          <a:prstGeom prst="rect">
            <a:avLst/>
          </a:prstGeom>
          <a:noFill/>
          <a:ln/>
        </p:spPr>
        <p:txBody>
          <a:bodyPr wrap="none" lIns="0" tIns="0" rIns="0" bIns="0" rtlCol="0" anchor="t"/>
          <a:lstStyle/>
          <a:p>
            <a:pPr marL="0" indent="0" algn="l">
              <a:lnSpc>
                <a:spcPts val="2200"/>
              </a:lnSpc>
              <a:buNone/>
            </a:pPr>
            <a:r>
              <a:rPr lang="en-US" sz="1500" b="1" dirty="0">
                <a:solidFill>
                  <a:srgbClr val="272525"/>
                </a:solidFill>
                <a:latin typeface="Calibri" panose="020F0502020204030204" pitchFamily="34" charset="0"/>
                <a:ea typeface="Inter" pitchFamily="34" charset="-122"/>
                <a:cs typeface="Calibri" panose="020F0502020204030204" pitchFamily="34" charset="0"/>
              </a:rPr>
              <a:t>3.27</a:t>
            </a:r>
            <a:endParaRPr lang="en-US" sz="1500" dirty="0">
              <a:latin typeface="Calibri" panose="020F0502020204030204" pitchFamily="34" charset="0"/>
              <a:cs typeface="Calibri" panose="020F0502020204030204" pitchFamily="34" charset="0"/>
            </a:endParaRPr>
          </a:p>
        </p:txBody>
      </p:sp>
      <p:sp>
        <p:nvSpPr>
          <p:cNvPr id="18" name="Text 16"/>
          <p:cNvSpPr/>
          <p:nvPr/>
        </p:nvSpPr>
        <p:spPr>
          <a:xfrm>
            <a:off x="12102227" y="3043952"/>
            <a:ext cx="157757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-7.47%</a:t>
            </a:r>
            <a:endParaRPr lang="en-US" sz="1500" dirty="0">
              <a:latin typeface="Calibri" panose="020F0502020204030204" pitchFamily="34" charset="0"/>
              <a:cs typeface="Calibri" panose="020F0502020204030204" pitchFamily="34" charset="0"/>
            </a:endParaRPr>
          </a:p>
        </p:txBody>
      </p:sp>
      <p:sp>
        <p:nvSpPr>
          <p:cNvPr id="19" name="Shape 17"/>
          <p:cNvSpPr/>
          <p:nvPr/>
        </p:nvSpPr>
        <p:spPr>
          <a:xfrm>
            <a:off x="757714" y="3435429"/>
            <a:ext cx="13114973" cy="497443"/>
          </a:xfrm>
          <a:prstGeom prst="rect">
            <a:avLst/>
          </a:prstGeom>
          <a:solidFill>
            <a:srgbClr val="FFFFFF">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20" name="Text 18"/>
          <p:cNvSpPr/>
          <p:nvPr/>
        </p:nvSpPr>
        <p:spPr>
          <a:xfrm>
            <a:off x="951071" y="3541395"/>
            <a:ext cx="2889171"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Market only</a:t>
            </a:r>
            <a:endParaRPr lang="en-US" sz="1500" dirty="0">
              <a:latin typeface="Calibri" panose="020F0502020204030204" pitchFamily="34" charset="0"/>
              <a:cs typeface="Calibri" panose="020F0502020204030204" pitchFamily="34" charset="0"/>
            </a:endParaRPr>
          </a:p>
        </p:txBody>
      </p:sp>
      <p:sp>
        <p:nvSpPr>
          <p:cNvPr id="21" name="Text 19"/>
          <p:cNvSpPr/>
          <p:nvPr/>
        </p:nvSpPr>
        <p:spPr>
          <a:xfrm>
            <a:off x="4233624" y="3541395"/>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19.40%</a:t>
            </a:r>
            <a:endParaRPr lang="en-US" sz="1500" dirty="0">
              <a:latin typeface="Calibri" panose="020F0502020204030204" pitchFamily="34" charset="0"/>
              <a:cs typeface="Calibri" panose="020F0502020204030204" pitchFamily="34" charset="0"/>
            </a:endParaRPr>
          </a:p>
        </p:txBody>
      </p:sp>
      <p:sp>
        <p:nvSpPr>
          <p:cNvPr id="22" name="Text 20"/>
          <p:cNvSpPr/>
          <p:nvPr/>
        </p:nvSpPr>
        <p:spPr>
          <a:xfrm>
            <a:off x="6200775" y="3541395"/>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21.24%</a:t>
            </a:r>
            <a:endParaRPr lang="en-US" sz="1500" dirty="0">
              <a:latin typeface="Calibri" panose="020F0502020204030204" pitchFamily="34" charset="0"/>
              <a:cs typeface="Calibri" panose="020F0502020204030204" pitchFamily="34" charset="0"/>
            </a:endParaRPr>
          </a:p>
        </p:txBody>
      </p:sp>
      <p:sp>
        <p:nvSpPr>
          <p:cNvPr id="23" name="Text 21"/>
          <p:cNvSpPr/>
          <p:nvPr/>
        </p:nvSpPr>
        <p:spPr>
          <a:xfrm>
            <a:off x="8167926" y="3541395"/>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12.25%</a:t>
            </a:r>
            <a:endParaRPr lang="en-US" sz="1500" dirty="0">
              <a:latin typeface="Calibri" panose="020F0502020204030204" pitchFamily="34" charset="0"/>
              <a:cs typeface="Calibri" panose="020F0502020204030204" pitchFamily="34" charset="0"/>
            </a:endParaRPr>
          </a:p>
        </p:txBody>
      </p:sp>
      <p:sp>
        <p:nvSpPr>
          <p:cNvPr id="24" name="Text 22"/>
          <p:cNvSpPr/>
          <p:nvPr/>
        </p:nvSpPr>
        <p:spPr>
          <a:xfrm>
            <a:off x="10135076" y="3541395"/>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1.63</a:t>
            </a:r>
            <a:endParaRPr lang="en-US" sz="1500" dirty="0">
              <a:latin typeface="Calibri" panose="020F0502020204030204" pitchFamily="34" charset="0"/>
              <a:cs typeface="Calibri" panose="020F0502020204030204" pitchFamily="34" charset="0"/>
            </a:endParaRPr>
          </a:p>
        </p:txBody>
      </p:sp>
      <p:sp>
        <p:nvSpPr>
          <p:cNvPr id="25" name="Text 23"/>
          <p:cNvSpPr/>
          <p:nvPr/>
        </p:nvSpPr>
        <p:spPr>
          <a:xfrm>
            <a:off x="12102227" y="3541395"/>
            <a:ext cx="157757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-7.89%</a:t>
            </a:r>
            <a:endParaRPr lang="en-US" sz="1500" dirty="0">
              <a:latin typeface="Calibri" panose="020F0502020204030204" pitchFamily="34" charset="0"/>
              <a:cs typeface="Calibri" panose="020F0502020204030204" pitchFamily="34" charset="0"/>
            </a:endParaRPr>
          </a:p>
        </p:txBody>
      </p:sp>
      <p:sp>
        <p:nvSpPr>
          <p:cNvPr id="26" name="Shape 24"/>
          <p:cNvSpPr/>
          <p:nvPr/>
        </p:nvSpPr>
        <p:spPr>
          <a:xfrm>
            <a:off x="757714" y="3932873"/>
            <a:ext cx="13114973" cy="497443"/>
          </a:xfrm>
          <a:prstGeom prst="rect">
            <a:avLst/>
          </a:prstGeom>
          <a:solidFill>
            <a:srgbClr val="000000">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27" name="Text 25"/>
          <p:cNvSpPr/>
          <p:nvPr/>
        </p:nvSpPr>
        <p:spPr>
          <a:xfrm>
            <a:off x="951071" y="4038838"/>
            <a:ext cx="2889171"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IPO only</a:t>
            </a:r>
            <a:endParaRPr lang="en-US" sz="1500" dirty="0">
              <a:latin typeface="Calibri" panose="020F0502020204030204" pitchFamily="34" charset="0"/>
              <a:cs typeface="Calibri" panose="020F0502020204030204" pitchFamily="34" charset="0"/>
            </a:endParaRPr>
          </a:p>
        </p:txBody>
      </p:sp>
      <p:sp>
        <p:nvSpPr>
          <p:cNvPr id="28" name="Text 26"/>
          <p:cNvSpPr/>
          <p:nvPr/>
        </p:nvSpPr>
        <p:spPr>
          <a:xfrm>
            <a:off x="4233624" y="4038838"/>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192.78%</a:t>
            </a:r>
            <a:endParaRPr lang="en-US" sz="1500" dirty="0">
              <a:latin typeface="Calibri" panose="020F0502020204030204" pitchFamily="34" charset="0"/>
              <a:cs typeface="Calibri" panose="020F0502020204030204" pitchFamily="34" charset="0"/>
            </a:endParaRPr>
          </a:p>
        </p:txBody>
      </p:sp>
      <p:sp>
        <p:nvSpPr>
          <p:cNvPr id="29" name="Text 27"/>
          <p:cNvSpPr/>
          <p:nvPr/>
        </p:nvSpPr>
        <p:spPr>
          <a:xfrm>
            <a:off x="6200775" y="4038838"/>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221.19%</a:t>
            </a:r>
            <a:endParaRPr lang="en-US" sz="1500" dirty="0">
              <a:latin typeface="Calibri" panose="020F0502020204030204" pitchFamily="34" charset="0"/>
              <a:cs typeface="Calibri" panose="020F0502020204030204" pitchFamily="34" charset="0"/>
            </a:endParaRPr>
          </a:p>
        </p:txBody>
      </p:sp>
      <p:sp>
        <p:nvSpPr>
          <p:cNvPr id="30" name="Text 28"/>
          <p:cNvSpPr/>
          <p:nvPr/>
        </p:nvSpPr>
        <p:spPr>
          <a:xfrm>
            <a:off x="8167926" y="4038838"/>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31.03%</a:t>
            </a:r>
            <a:endParaRPr lang="en-US" sz="1500" dirty="0">
              <a:latin typeface="Calibri" panose="020F0502020204030204" pitchFamily="34" charset="0"/>
              <a:cs typeface="Calibri" panose="020F0502020204030204" pitchFamily="34" charset="0"/>
            </a:endParaRPr>
          </a:p>
        </p:txBody>
      </p:sp>
      <p:sp>
        <p:nvSpPr>
          <p:cNvPr id="31" name="Text 29"/>
          <p:cNvSpPr/>
          <p:nvPr/>
        </p:nvSpPr>
        <p:spPr>
          <a:xfrm>
            <a:off x="10135076" y="4038838"/>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3.92</a:t>
            </a:r>
            <a:endParaRPr lang="en-US" sz="1500" dirty="0">
              <a:latin typeface="Calibri" panose="020F0502020204030204" pitchFamily="34" charset="0"/>
              <a:cs typeface="Calibri" panose="020F0502020204030204" pitchFamily="34" charset="0"/>
            </a:endParaRPr>
          </a:p>
        </p:txBody>
      </p:sp>
      <p:sp>
        <p:nvSpPr>
          <p:cNvPr id="32" name="Text 30"/>
          <p:cNvSpPr/>
          <p:nvPr/>
        </p:nvSpPr>
        <p:spPr>
          <a:xfrm>
            <a:off x="12102227" y="4038838"/>
            <a:ext cx="157757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-10.08%</a:t>
            </a:r>
            <a:endParaRPr lang="en-US" sz="1500" dirty="0">
              <a:latin typeface="Calibri" panose="020F0502020204030204" pitchFamily="34" charset="0"/>
              <a:cs typeface="Calibri" panose="020F0502020204030204" pitchFamily="34" charset="0"/>
            </a:endParaRPr>
          </a:p>
        </p:txBody>
      </p:sp>
      <p:sp>
        <p:nvSpPr>
          <p:cNvPr id="33" name="Shape 31"/>
          <p:cNvSpPr/>
          <p:nvPr/>
        </p:nvSpPr>
        <p:spPr>
          <a:xfrm>
            <a:off x="757714" y="4430316"/>
            <a:ext cx="13114973" cy="497443"/>
          </a:xfrm>
          <a:prstGeom prst="rect">
            <a:avLst/>
          </a:prstGeom>
          <a:solidFill>
            <a:srgbClr val="FFFFFF">
              <a:alpha val="4000"/>
            </a:srgbClr>
          </a:solidFill>
          <a:ln/>
        </p:spPr>
        <p:txBody>
          <a:bodyPr/>
          <a:lstStyle/>
          <a:p>
            <a:endParaRPr lang="en-US">
              <a:latin typeface="Calibri" panose="020F0502020204030204" pitchFamily="34" charset="0"/>
              <a:cs typeface="Calibri" panose="020F0502020204030204" pitchFamily="34" charset="0"/>
            </a:endParaRPr>
          </a:p>
        </p:txBody>
      </p:sp>
      <p:sp>
        <p:nvSpPr>
          <p:cNvPr id="34" name="Text 32"/>
          <p:cNvSpPr/>
          <p:nvPr/>
        </p:nvSpPr>
        <p:spPr>
          <a:xfrm>
            <a:off x="951071" y="4536281"/>
            <a:ext cx="2889171"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Equal 50/50</a:t>
            </a:r>
            <a:endParaRPr lang="en-US" sz="1500" dirty="0">
              <a:latin typeface="Calibri" panose="020F0502020204030204" pitchFamily="34" charset="0"/>
              <a:cs typeface="Calibri" panose="020F0502020204030204" pitchFamily="34" charset="0"/>
            </a:endParaRPr>
          </a:p>
        </p:txBody>
      </p:sp>
      <p:sp>
        <p:nvSpPr>
          <p:cNvPr id="35" name="Text 33"/>
          <p:cNvSpPr/>
          <p:nvPr/>
        </p:nvSpPr>
        <p:spPr>
          <a:xfrm>
            <a:off x="4233624" y="4536281"/>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88.52%</a:t>
            </a:r>
            <a:endParaRPr lang="en-US" sz="1500" dirty="0">
              <a:latin typeface="Calibri" panose="020F0502020204030204" pitchFamily="34" charset="0"/>
              <a:cs typeface="Calibri" panose="020F0502020204030204" pitchFamily="34" charset="0"/>
            </a:endParaRPr>
          </a:p>
        </p:txBody>
      </p:sp>
      <p:sp>
        <p:nvSpPr>
          <p:cNvPr id="36" name="Text 34"/>
          <p:cNvSpPr/>
          <p:nvPr/>
        </p:nvSpPr>
        <p:spPr>
          <a:xfrm>
            <a:off x="6200775" y="4536281"/>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99.11%</a:t>
            </a:r>
            <a:endParaRPr lang="en-US" sz="1500" dirty="0">
              <a:latin typeface="Calibri" panose="020F0502020204030204" pitchFamily="34" charset="0"/>
              <a:cs typeface="Calibri" panose="020F0502020204030204" pitchFamily="34" charset="0"/>
            </a:endParaRPr>
          </a:p>
        </p:txBody>
      </p:sp>
      <p:sp>
        <p:nvSpPr>
          <p:cNvPr id="37" name="Text 35"/>
          <p:cNvSpPr/>
          <p:nvPr/>
        </p:nvSpPr>
        <p:spPr>
          <a:xfrm>
            <a:off x="8167926" y="4536281"/>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19.39%</a:t>
            </a:r>
            <a:endParaRPr lang="en-US" sz="1500" dirty="0">
              <a:latin typeface="Calibri" panose="020F0502020204030204" pitchFamily="34" charset="0"/>
              <a:cs typeface="Calibri" panose="020F0502020204030204" pitchFamily="34" charset="0"/>
            </a:endParaRPr>
          </a:p>
        </p:txBody>
      </p:sp>
      <p:sp>
        <p:nvSpPr>
          <p:cNvPr id="38" name="Text 36"/>
          <p:cNvSpPr/>
          <p:nvPr/>
        </p:nvSpPr>
        <p:spPr>
          <a:xfrm>
            <a:off x="10135076" y="4536281"/>
            <a:ext cx="157376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3.65</a:t>
            </a:r>
            <a:endParaRPr lang="en-US" sz="1500" dirty="0">
              <a:latin typeface="Calibri" panose="020F0502020204030204" pitchFamily="34" charset="0"/>
              <a:cs typeface="Calibri" panose="020F0502020204030204" pitchFamily="34" charset="0"/>
            </a:endParaRPr>
          </a:p>
        </p:txBody>
      </p:sp>
      <p:sp>
        <p:nvSpPr>
          <p:cNvPr id="39" name="Text 37"/>
          <p:cNvSpPr/>
          <p:nvPr/>
        </p:nvSpPr>
        <p:spPr>
          <a:xfrm>
            <a:off x="12102227" y="4536281"/>
            <a:ext cx="1577578"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-7.20%</a:t>
            </a:r>
            <a:endParaRPr lang="en-US" sz="1500" dirty="0">
              <a:latin typeface="Calibri" panose="020F0502020204030204" pitchFamily="34" charset="0"/>
              <a:cs typeface="Calibri" panose="020F0502020204030204" pitchFamily="34" charset="0"/>
            </a:endParaRPr>
          </a:p>
        </p:txBody>
      </p:sp>
      <p:sp>
        <p:nvSpPr>
          <p:cNvPr id="40" name="Text 38"/>
          <p:cNvSpPr/>
          <p:nvPr/>
        </p:nvSpPr>
        <p:spPr>
          <a:xfrm>
            <a:off x="962144" y="5216247"/>
            <a:ext cx="3815953" cy="636508"/>
          </a:xfrm>
          <a:prstGeom prst="rect">
            <a:avLst/>
          </a:prstGeom>
          <a:noFill/>
          <a:ln/>
        </p:spPr>
        <p:txBody>
          <a:bodyPr wrap="none" lIns="0" tIns="0" rIns="0" bIns="0" rtlCol="0" anchor="t"/>
          <a:lstStyle/>
          <a:p>
            <a:pPr marL="0" indent="0" algn="ctr">
              <a:lnSpc>
                <a:spcPts val="5000"/>
              </a:lnSpc>
              <a:buNone/>
            </a:pPr>
            <a:r>
              <a:rPr lang="en-US" sz="5000" b="1" dirty="0">
                <a:solidFill>
                  <a:srgbClr val="272525"/>
                </a:solidFill>
                <a:latin typeface="Calibri" panose="020F0502020204030204" pitchFamily="34" charset="0"/>
                <a:ea typeface="Petrona Bold" pitchFamily="34" charset="-122"/>
                <a:cs typeface="Calibri" panose="020F0502020204030204" pitchFamily="34" charset="0"/>
              </a:rPr>
              <a:t>69%</a:t>
            </a:r>
            <a:endParaRPr lang="en-US" sz="5000" dirty="0">
              <a:latin typeface="Calibri" panose="020F0502020204030204" pitchFamily="34" charset="0"/>
              <a:cs typeface="Calibri" panose="020F0502020204030204" pitchFamily="34" charset="0"/>
            </a:endParaRPr>
          </a:p>
        </p:txBody>
      </p:sp>
      <p:sp>
        <p:nvSpPr>
          <p:cNvPr id="41" name="Text 39"/>
          <p:cNvSpPr/>
          <p:nvPr/>
        </p:nvSpPr>
        <p:spPr>
          <a:xfrm>
            <a:off x="1544003" y="6072188"/>
            <a:ext cx="2652236" cy="331589"/>
          </a:xfrm>
          <a:prstGeom prst="rect">
            <a:avLst/>
          </a:prstGeom>
          <a:noFill/>
          <a:ln/>
        </p:spPr>
        <p:txBody>
          <a:bodyPr wrap="none" lIns="0" tIns="0" rIns="0" bIns="0" rtlCol="0" anchor="t"/>
          <a:lstStyle/>
          <a:p>
            <a:pPr marL="0" indent="0" algn="ctr">
              <a:lnSpc>
                <a:spcPts val="2600"/>
              </a:lnSpc>
              <a:buNone/>
            </a:pPr>
            <a:r>
              <a:rPr lang="en-US" sz="2050" b="1" dirty="0">
                <a:solidFill>
                  <a:srgbClr val="0066CC"/>
                </a:solidFill>
                <a:latin typeface="Calibri" panose="020F0502020204030204" pitchFamily="34" charset="0"/>
                <a:ea typeface="Petrona Bold" pitchFamily="34" charset="-122"/>
                <a:cs typeface="Calibri" panose="020F0502020204030204" pitchFamily="34" charset="0"/>
              </a:rPr>
              <a:t>Market Allocation</a:t>
            </a:r>
            <a:endParaRPr lang="en-US" sz="2050" dirty="0">
              <a:latin typeface="Calibri" panose="020F0502020204030204" pitchFamily="34" charset="0"/>
              <a:cs typeface="Calibri" panose="020F0502020204030204" pitchFamily="34" charset="0"/>
            </a:endParaRPr>
          </a:p>
        </p:txBody>
      </p:sp>
      <p:sp>
        <p:nvSpPr>
          <p:cNvPr id="42" name="Text 40"/>
          <p:cNvSpPr/>
          <p:nvPr/>
        </p:nvSpPr>
        <p:spPr>
          <a:xfrm>
            <a:off x="750094" y="6502122"/>
            <a:ext cx="4240054" cy="285512"/>
          </a:xfrm>
          <a:prstGeom prst="rect">
            <a:avLst/>
          </a:prstGeom>
          <a:noFill/>
          <a:ln/>
        </p:spPr>
        <p:txBody>
          <a:bodyPr wrap="none" lIns="0" tIns="0" rIns="0" bIns="0" rtlCol="0" anchor="t"/>
          <a:lstStyle/>
          <a:p>
            <a:pPr marL="0" indent="0" algn="ctr">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Average portfolio weight</a:t>
            </a:r>
            <a:endParaRPr lang="en-US" sz="1500" dirty="0">
              <a:latin typeface="Calibri" panose="020F0502020204030204" pitchFamily="34" charset="0"/>
              <a:cs typeface="Calibri" panose="020F0502020204030204" pitchFamily="34" charset="0"/>
            </a:endParaRPr>
          </a:p>
        </p:txBody>
      </p:sp>
      <p:sp>
        <p:nvSpPr>
          <p:cNvPr id="43" name="Text 41"/>
          <p:cNvSpPr/>
          <p:nvPr/>
        </p:nvSpPr>
        <p:spPr>
          <a:xfrm>
            <a:off x="5407223" y="5216247"/>
            <a:ext cx="3815953" cy="636508"/>
          </a:xfrm>
          <a:prstGeom prst="rect">
            <a:avLst/>
          </a:prstGeom>
          <a:noFill/>
          <a:ln/>
        </p:spPr>
        <p:txBody>
          <a:bodyPr wrap="none" lIns="0" tIns="0" rIns="0" bIns="0" rtlCol="0" anchor="t"/>
          <a:lstStyle/>
          <a:p>
            <a:pPr marL="0" indent="0" algn="ctr">
              <a:lnSpc>
                <a:spcPts val="5000"/>
              </a:lnSpc>
              <a:buNone/>
            </a:pPr>
            <a:r>
              <a:rPr lang="en-US" sz="5000" b="1" dirty="0">
                <a:solidFill>
                  <a:srgbClr val="272525"/>
                </a:solidFill>
                <a:latin typeface="Calibri" panose="020F0502020204030204" pitchFamily="34" charset="0"/>
                <a:ea typeface="Petrona Bold" pitchFamily="34" charset="-122"/>
                <a:cs typeface="Calibri" panose="020F0502020204030204" pitchFamily="34" charset="0"/>
              </a:rPr>
              <a:t>31%</a:t>
            </a:r>
            <a:endParaRPr lang="en-US" sz="5000" dirty="0">
              <a:latin typeface="Calibri" panose="020F0502020204030204" pitchFamily="34" charset="0"/>
              <a:cs typeface="Calibri" panose="020F0502020204030204" pitchFamily="34" charset="0"/>
            </a:endParaRPr>
          </a:p>
        </p:txBody>
      </p:sp>
      <p:sp>
        <p:nvSpPr>
          <p:cNvPr id="44" name="Text 42"/>
          <p:cNvSpPr/>
          <p:nvPr/>
        </p:nvSpPr>
        <p:spPr>
          <a:xfrm>
            <a:off x="5989082" y="6072188"/>
            <a:ext cx="2652236" cy="331589"/>
          </a:xfrm>
          <a:prstGeom prst="rect">
            <a:avLst/>
          </a:prstGeom>
          <a:noFill/>
          <a:ln/>
        </p:spPr>
        <p:txBody>
          <a:bodyPr wrap="none" lIns="0" tIns="0" rIns="0" bIns="0" rtlCol="0" anchor="t"/>
          <a:lstStyle/>
          <a:p>
            <a:pPr marL="0" indent="0" algn="ctr">
              <a:lnSpc>
                <a:spcPts val="2600"/>
              </a:lnSpc>
              <a:buNone/>
            </a:pPr>
            <a:r>
              <a:rPr lang="en-US" sz="2050" b="1" dirty="0">
                <a:solidFill>
                  <a:srgbClr val="0066CC"/>
                </a:solidFill>
                <a:latin typeface="Calibri" panose="020F0502020204030204" pitchFamily="34" charset="0"/>
                <a:ea typeface="Petrona Bold" pitchFamily="34" charset="-122"/>
                <a:cs typeface="Calibri" panose="020F0502020204030204" pitchFamily="34" charset="0"/>
              </a:rPr>
              <a:t>IPO Allocation</a:t>
            </a:r>
            <a:endParaRPr lang="en-US" sz="2050" dirty="0">
              <a:latin typeface="Calibri" panose="020F0502020204030204" pitchFamily="34" charset="0"/>
              <a:cs typeface="Calibri" panose="020F0502020204030204" pitchFamily="34" charset="0"/>
            </a:endParaRPr>
          </a:p>
        </p:txBody>
      </p:sp>
      <p:sp>
        <p:nvSpPr>
          <p:cNvPr id="45" name="Text 43"/>
          <p:cNvSpPr/>
          <p:nvPr/>
        </p:nvSpPr>
        <p:spPr>
          <a:xfrm>
            <a:off x="5195173" y="6502122"/>
            <a:ext cx="4240054" cy="285512"/>
          </a:xfrm>
          <a:prstGeom prst="rect">
            <a:avLst/>
          </a:prstGeom>
          <a:noFill/>
          <a:ln/>
        </p:spPr>
        <p:txBody>
          <a:bodyPr wrap="none" lIns="0" tIns="0" rIns="0" bIns="0" rtlCol="0" anchor="t"/>
          <a:lstStyle/>
          <a:p>
            <a:pPr marL="0" indent="0" algn="ctr">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Average portfolio weight</a:t>
            </a:r>
            <a:endParaRPr lang="en-US" sz="1500" dirty="0">
              <a:latin typeface="Calibri" panose="020F0502020204030204" pitchFamily="34" charset="0"/>
              <a:cs typeface="Calibri" panose="020F0502020204030204" pitchFamily="34" charset="0"/>
            </a:endParaRPr>
          </a:p>
        </p:txBody>
      </p:sp>
      <p:sp>
        <p:nvSpPr>
          <p:cNvPr id="46" name="Text 44"/>
          <p:cNvSpPr/>
          <p:nvPr/>
        </p:nvSpPr>
        <p:spPr>
          <a:xfrm>
            <a:off x="9852303" y="5216247"/>
            <a:ext cx="3815953" cy="636508"/>
          </a:xfrm>
          <a:prstGeom prst="rect">
            <a:avLst/>
          </a:prstGeom>
          <a:noFill/>
          <a:ln/>
        </p:spPr>
        <p:txBody>
          <a:bodyPr wrap="none" lIns="0" tIns="0" rIns="0" bIns="0" rtlCol="0" anchor="t"/>
          <a:lstStyle/>
          <a:p>
            <a:pPr marL="0" indent="0" algn="ctr">
              <a:lnSpc>
                <a:spcPts val="5000"/>
              </a:lnSpc>
              <a:buNone/>
            </a:pPr>
            <a:r>
              <a:rPr lang="en-US" sz="5000" b="1" dirty="0">
                <a:solidFill>
                  <a:srgbClr val="272525"/>
                </a:solidFill>
                <a:latin typeface="Calibri" panose="020F0502020204030204" pitchFamily="34" charset="0"/>
                <a:ea typeface="Petrona Bold" pitchFamily="34" charset="-122"/>
                <a:cs typeface="Calibri" panose="020F0502020204030204" pitchFamily="34" charset="0"/>
              </a:rPr>
              <a:t>0.0031</a:t>
            </a:r>
            <a:endParaRPr lang="en-US" sz="5000" dirty="0">
              <a:latin typeface="Calibri" panose="020F0502020204030204" pitchFamily="34" charset="0"/>
              <a:cs typeface="Calibri" panose="020F0502020204030204" pitchFamily="34" charset="0"/>
            </a:endParaRPr>
          </a:p>
        </p:txBody>
      </p:sp>
      <p:sp>
        <p:nvSpPr>
          <p:cNvPr id="47" name="Text 45"/>
          <p:cNvSpPr/>
          <p:nvPr/>
        </p:nvSpPr>
        <p:spPr>
          <a:xfrm>
            <a:off x="10434161" y="6072188"/>
            <a:ext cx="2652236" cy="331589"/>
          </a:xfrm>
          <a:prstGeom prst="rect">
            <a:avLst/>
          </a:prstGeom>
          <a:noFill/>
          <a:ln/>
        </p:spPr>
        <p:txBody>
          <a:bodyPr wrap="none" lIns="0" tIns="0" rIns="0" bIns="0" rtlCol="0" anchor="t"/>
          <a:lstStyle/>
          <a:p>
            <a:pPr marL="0" indent="0" algn="ctr">
              <a:lnSpc>
                <a:spcPts val="2600"/>
              </a:lnSpc>
              <a:buNone/>
            </a:pPr>
            <a:r>
              <a:rPr lang="en-US" sz="2050" b="1" dirty="0">
                <a:solidFill>
                  <a:srgbClr val="0066CC"/>
                </a:solidFill>
                <a:latin typeface="Calibri" panose="020F0502020204030204" pitchFamily="34" charset="0"/>
                <a:ea typeface="Petrona Bold" pitchFamily="34" charset="-122"/>
                <a:cs typeface="Calibri" panose="020F0502020204030204" pitchFamily="34" charset="0"/>
              </a:rPr>
              <a:t>Daily Turnover</a:t>
            </a:r>
            <a:endParaRPr lang="en-US" sz="2050" dirty="0">
              <a:latin typeface="Calibri" panose="020F0502020204030204" pitchFamily="34" charset="0"/>
              <a:cs typeface="Calibri" panose="020F0502020204030204" pitchFamily="34" charset="0"/>
            </a:endParaRPr>
          </a:p>
        </p:txBody>
      </p:sp>
      <p:sp>
        <p:nvSpPr>
          <p:cNvPr id="48" name="Text 46"/>
          <p:cNvSpPr/>
          <p:nvPr/>
        </p:nvSpPr>
        <p:spPr>
          <a:xfrm>
            <a:off x="9640252" y="6502122"/>
            <a:ext cx="4240054" cy="285512"/>
          </a:xfrm>
          <a:prstGeom prst="rect">
            <a:avLst/>
          </a:prstGeom>
          <a:noFill/>
          <a:ln/>
        </p:spPr>
        <p:txBody>
          <a:bodyPr wrap="none" lIns="0" tIns="0" rIns="0" bIns="0" rtlCol="0" anchor="t"/>
          <a:lstStyle/>
          <a:p>
            <a:pPr marL="0" indent="0" algn="ctr">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Average weight change</a:t>
            </a:r>
            <a:endParaRPr lang="en-US" sz="1500" dirty="0">
              <a:latin typeface="Calibri" panose="020F0502020204030204" pitchFamily="34" charset="0"/>
              <a:cs typeface="Calibri" panose="020F0502020204030204" pitchFamily="34" charset="0"/>
            </a:endParaRPr>
          </a:p>
        </p:txBody>
      </p:sp>
      <p:sp>
        <p:nvSpPr>
          <p:cNvPr id="49" name="Text 47"/>
          <p:cNvSpPr/>
          <p:nvPr/>
        </p:nvSpPr>
        <p:spPr>
          <a:xfrm>
            <a:off x="750094" y="6972062"/>
            <a:ext cx="13130213" cy="285512"/>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Calibri" panose="020F0502020204030204" pitchFamily="34" charset="0"/>
                <a:ea typeface="Inter" pitchFamily="34" charset="-122"/>
                <a:cs typeface="Calibri" panose="020F0502020204030204" pitchFamily="34" charset="0"/>
              </a:rPr>
              <a:t>The model achieves tighter drawdown than IPO-only (-7.47% vs -10.08%) and substantially higher return than market-only (65% vs 21%).</a:t>
            </a:r>
            <a:endParaRPr lang="en-US" sz="1500" dirty="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AE7DC377-ED22-CDC5-0E48-EFD0E9ABDACD}"/>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51" name="Rectangle 50">
            <a:extLst>
              <a:ext uri="{FF2B5EF4-FFF2-40B4-BE49-F238E27FC236}">
                <a16:creationId xmlns:a16="http://schemas.microsoft.com/office/drawing/2014/main" id="{690DF4DA-B69E-308F-F729-C1603867E59B}"/>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88C68765-5F6F-639A-49F0-6E8EEAF6C448}"/>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5528" y="792734"/>
            <a:ext cx="13039344" cy="646331"/>
          </a:xfrm>
          <a:prstGeom prst="rect">
            <a:avLst/>
          </a:prstGeom>
          <a:noFill/>
        </p:spPr>
        <p:txBody>
          <a:bodyPr wrap="square">
            <a:spAutoFit/>
          </a:bodyPr>
          <a:lstStyle/>
          <a:p>
            <a:pPr algn="l"/>
            <a:r>
              <a:rPr sz="3600" b="1" dirty="0">
                <a:solidFill>
                  <a:srgbClr val="0066CC"/>
                </a:solidFill>
                <a:latin typeface="Calibri" panose="020F0502020204030204" pitchFamily="34" charset="0"/>
                <a:cs typeface="Calibri" panose="020F0502020204030204" pitchFamily="34" charset="0"/>
              </a:rPr>
              <a:t>Updated Results: Performance Comparison</a:t>
            </a:r>
          </a:p>
        </p:txBody>
      </p:sp>
      <p:sp>
        <p:nvSpPr>
          <p:cNvPr id="4" name="Rectangle 3"/>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5" name="TextBox 4"/>
          <p:cNvSpPr txBox="1"/>
          <p:nvPr/>
        </p:nvSpPr>
        <p:spPr>
          <a:xfrm>
            <a:off x="12664440" y="7662672"/>
            <a:ext cx="2029968" cy="230832"/>
          </a:xfrm>
          <a:prstGeom prst="rect">
            <a:avLst/>
          </a:prstGeom>
          <a:noFill/>
        </p:spPr>
        <p:txBody>
          <a:bodyPr wrap="square">
            <a:spAutoFit/>
          </a:bodyPr>
          <a:lstStyle/>
          <a:p>
            <a:pPr algn="ctr"/>
            <a:r>
              <a:rPr sz="900" b="0">
                <a:solidFill>
                  <a:srgbClr val="FFFFFF"/>
                </a:solidFill>
                <a:latin typeface="Calibri" panose="020F0502020204030204" pitchFamily="34" charset="0"/>
                <a:cs typeface="Calibri" panose="020F0502020204030204" pitchFamily="34" charset="0"/>
              </a:rPr>
              <a:t>STAT 4830 — Spring 2026</a:t>
            </a:r>
          </a:p>
        </p:txBody>
      </p:sp>
      <p:sp>
        <p:nvSpPr>
          <p:cNvPr id="6" name="TextBox 5"/>
          <p:cNvSpPr txBox="1"/>
          <p:nvPr/>
        </p:nvSpPr>
        <p:spPr>
          <a:xfrm>
            <a:off x="795528" y="1942592"/>
            <a:ext cx="13039344" cy="276999"/>
          </a:xfrm>
          <a:prstGeom prst="rect">
            <a:avLst/>
          </a:prstGeom>
          <a:noFill/>
        </p:spPr>
        <p:txBody>
          <a:bodyPr wrap="square">
            <a:spAutoFit/>
          </a:bodyPr>
          <a:lstStyle/>
          <a:p>
            <a:pPr algn="l"/>
            <a:r>
              <a:rPr sz="1200" b="0">
                <a:solidFill>
                  <a:srgbClr val="333333"/>
                </a:solidFill>
                <a:latin typeface="Calibri" panose="020F0502020204030204" pitchFamily="34" charset="0"/>
                <a:cs typeface="Calibri" panose="020F0502020204030204" pitchFamily="34" charset="0"/>
              </a:rPr>
              <a:t>Validation period: January – December 2024  |  Retrained with 200 epochs, batch=256, lr=3e-4, λ_path=0.0001, λ_turnover=0.0</a:t>
            </a:r>
          </a:p>
        </p:txBody>
      </p:sp>
      <p:sp>
        <p:nvSpPr>
          <p:cNvPr id="7" name="Rectangle 6"/>
          <p:cNvSpPr/>
          <p:nvPr/>
        </p:nvSpPr>
        <p:spPr>
          <a:xfrm>
            <a:off x="856765" y="2363724"/>
            <a:ext cx="12161520" cy="5486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pitchFamily="34" charset="0"/>
              <a:cs typeface="Calibri" panose="020F0502020204030204" pitchFamily="34" charset="0"/>
            </a:endParaRPr>
          </a:p>
        </p:txBody>
      </p:sp>
      <p:sp>
        <p:nvSpPr>
          <p:cNvPr id="8" name="TextBox 7"/>
          <p:cNvSpPr txBox="1"/>
          <p:nvPr/>
        </p:nvSpPr>
        <p:spPr>
          <a:xfrm>
            <a:off x="856765" y="2455164"/>
            <a:ext cx="2331720" cy="369332"/>
          </a:xfrm>
          <a:prstGeom prst="rect">
            <a:avLst/>
          </a:prstGeom>
          <a:noFill/>
        </p:spPr>
        <p:txBody>
          <a:bodyPr wrap="square">
            <a:spAutoFit/>
          </a:bodyPr>
          <a:lstStyle/>
          <a:p>
            <a:pPr algn="ctr"/>
            <a:r>
              <a:rPr b="1">
                <a:solidFill>
                  <a:srgbClr val="FFFFFF"/>
                </a:solidFill>
                <a:latin typeface="Calibri" panose="020F0502020204030204" pitchFamily="34" charset="0"/>
                <a:cs typeface="Calibri" panose="020F0502020204030204" pitchFamily="34" charset="0"/>
              </a:rPr>
              <a:t>Strategy</a:t>
            </a:r>
          </a:p>
        </p:txBody>
      </p:sp>
      <p:sp>
        <p:nvSpPr>
          <p:cNvPr id="9" name="TextBox 8"/>
          <p:cNvSpPr txBox="1"/>
          <p:nvPr/>
        </p:nvSpPr>
        <p:spPr>
          <a:xfrm>
            <a:off x="3234205" y="2455164"/>
            <a:ext cx="1600200" cy="369332"/>
          </a:xfrm>
          <a:prstGeom prst="rect">
            <a:avLst/>
          </a:prstGeom>
          <a:noFill/>
        </p:spPr>
        <p:txBody>
          <a:bodyPr wrap="square">
            <a:spAutoFit/>
          </a:bodyPr>
          <a:lstStyle/>
          <a:p>
            <a:pPr algn="ctr"/>
            <a:r>
              <a:rPr b="1">
                <a:solidFill>
                  <a:srgbClr val="FFFFFF"/>
                </a:solidFill>
                <a:latin typeface="Calibri" panose="020F0502020204030204" pitchFamily="34" charset="0"/>
                <a:cs typeface="Calibri" panose="020F0502020204030204" pitchFamily="34" charset="0"/>
              </a:rPr>
              <a:t>Total Return</a:t>
            </a:r>
          </a:p>
        </p:txBody>
      </p:sp>
      <p:sp>
        <p:nvSpPr>
          <p:cNvPr id="10" name="TextBox 9"/>
          <p:cNvSpPr txBox="1"/>
          <p:nvPr/>
        </p:nvSpPr>
        <p:spPr>
          <a:xfrm>
            <a:off x="4880125" y="2455164"/>
            <a:ext cx="1600200" cy="369332"/>
          </a:xfrm>
          <a:prstGeom prst="rect">
            <a:avLst/>
          </a:prstGeom>
          <a:noFill/>
        </p:spPr>
        <p:txBody>
          <a:bodyPr wrap="square">
            <a:spAutoFit/>
          </a:bodyPr>
          <a:lstStyle/>
          <a:p>
            <a:pPr algn="ctr"/>
            <a:r>
              <a:rPr b="1">
                <a:solidFill>
                  <a:srgbClr val="FFFFFF"/>
                </a:solidFill>
                <a:latin typeface="Calibri" panose="020F0502020204030204" pitchFamily="34" charset="0"/>
                <a:cs typeface="Calibri" panose="020F0502020204030204" pitchFamily="34" charset="0"/>
              </a:rPr>
              <a:t>Ann. Return</a:t>
            </a:r>
          </a:p>
        </p:txBody>
      </p:sp>
      <p:sp>
        <p:nvSpPr>
          <p:cNvPr id="11" name="TextBox 10"/>
          <p:cNvSpPr txBox="1"/>
          <p:nvPr/>
        </p:nvSpPr>
        <p:spPr>
          <a:xfrm>
            <a:off x="6526045" y="2455164"/>
            <a:ext cx="1600200" cy="369332"/>
          </a:xfrm>
          <a:prstGeom prst="rect">
            <a:avLst/>
          </a:prstGeom>
          <a:noFill/>
        </p:spPr>
        <p:txBody>
          <a:bodyPr wrap="square">
            <a:spAutoFit/>
          </a:bodyPr>
          <a:lstStyle/>
          <a:p>
            <a:pPr algn="ctr"/>
            <a:r>
              <a:rPr b="1">
                <a:solidFill>
                  <a:srgbClr val="FFFFFF"/>
                </a:solidFill>
                <a:latin typeface="Calibri" panose="020F0502020204030204" pitchFamily="34" charset="0"/>
                <a:cs typeface="Calibri" panose="020F0502020204030204" pitchFamily="34" charset="0"/>
              </a:rPr>
              <a:t>Ann. Vol</a:t>
            </a:r>
          </a:p>
        </p:txBody>
      </p:sp>
      <p:sp>
        <p:nvSpPr>
          <p:cNvPr id="12" name="TextBox 11"/>
          <p:cNvSpPr txBox="1"/>
          <p:nvPr/>
        </p:nvSpPr>
        <p:spPr>
          <a:xfrm>
            <a:off x="8171965" y="2455164"/>
            <a:ext cx="1325880" cy="369332"/>
          </a:xfrm>
          <a:prstGeom prst="rect">
            <a:avLst/>
          </a:prstGeom>
          <a:noFill/>
        </p:spPr>
        <p:txBody>
          <a:bodyPr wrap="square">
            <a:spAutoFit/>
          </a:bodyPr>
          <a:lstStyle/>
          <a:p>
            <a:pPr algn="ctr"/>
            <a:r>
              <a:rPr b="1">
                <a:solidFill>
                  <a:srgbClr val="FFFFFF"/>
                </a:solidFill>
                <a:latin typeface="Calibri" panose="020F0502020204030204" pitchFamily="34" charset="0"/>
                <a:cs typeface="Calibri" panose="020F0502020204030204" pitchFamily="34" charset="0"/>
              </a:rPr>
              <a:t>Sharpe</a:t>
            </a:r>
          </a:p>
        </p:txBody>
      </p:sp>
      <p:sp>
        <p:nvSpPr>
          <p:cNvPr id="13" name="TextBox 12"/>
          <p:cNvSpPr txBox="1"/>
          <p:nvPr/>
        </p:nvSpPr>
        <p:spPr>
          <a:xfrm>
            <a:off x="9543565" y="2455164"/>
            <a:ext cx="1371600" cy="369332"/>
          </a:xfrm>
          <a:prstGeom prst="rect">
            <a:avLst/>
          </a:prstGeom>
          <a:noFill/>
        </p:spPr>
        <p:txBody>
          <a:bodyPr wrap="square">
            <a:spAutoFit/>
          </a:bodyPr>
          <a:lstStyle/>
          <a:p>
            <a:pPr algn="ctr"/>
            <a:r>
              <a:rPr b="1">
                <a:solidFill>
                  <a:srgbClr val="FFFFFF"/>
                </a:solidFill>
                <a:latin typeface="Calibri" panose="020F0502020204030204" pitchFamily="34" charset="0"/>
                <a:cs typeface="Calibri" panose="020F0502020204030204" pitchFamily="34" charset="0"/>
              </a:rPr>
              <a:t>Max DD</a:t>
            </a:r>
          </a:p>
        </p:txBody>
      </p:sp>
      <p:sp>
        <p:nvSpPr>
          <p:cNvPr id="14" name="TextBox 13"/>
          <p:cNvSpPr txBox="1"/>
          <p:nvPr/>
        </p:nvSpPr>
        <p:spPr>
          <a:xfrm>
            <a:off x="10960885" y="2455164"/>
            <a:ext cx="1645920" cy="369332"/>
          </a:xfrm>
          <a:prstGeom prst="rect">
            <a:avLst/>
          </a:prstGeom>
          <a:noFill/>
        </p:spPr>
        <p:txBody>
          <a:bodyPr wrap="square">
            <a:spAutoFit/>
          </a:bodyPr>
          <a:lstStyle/>
          <a:p>
            <a:pPr algn="ctr"/>
            <a:r>
              <a:rPr b="1">
                <a:solidFill>
                  <a:srgbClr val="FFFFFF"/>
                </a:solidFill>
                <a:latin typeface="Calibri" panose="020F0502020204030204" pitchFamily="34" charset="0"/>
                <a:cs typeface="Calibri" panose="020F0502020204030204" pitchFamily="34" charset="0"/>
              </a:rPr>
              <a:t>Avg IPO Wt</a:t>
            </a:r>
          </a:p>
        </p:txBody>
      </p:sp>
      <p:sp>
        <p:nvSpPr>
          <p:cNvPr id="15" name="Rectangle 14"/>
          <p:cNvSpPr/>
          <p:nvPr/>
        </p:nvSpPr>
        <p:spPr>
          <a:xfrm>
            <a:off x="856765" y="2912364"/>
            <a:ext cx="12161520" cy="548640"/>
          </a:xfrm>
          <a:prstGeom prst="rect">
            <a:avLst/>
          </a:prstGeom>
          <a:solidFill>
            <a:srgbClr val="E6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pitchFamily="34" charset="0"/>
              <a:cs typeface="Calibri" panose="020F0502020204030204" pitchFamily="34" charset="0"/>
            </a:endParaRPr>
          </a:p>
        </p:txBody>
      </p:sp>
      <p:sp>
        <p:nvSpPr>
          <p:cNvPr id="16" name="TextBox 15"/>
          <p:cNvSpPr txBox="1"/>
          <p:nvPr/>
        </p:nvSpPr>
        <p:spPr>
          <a:xfrm>
            <a:off x="856765" y="3003804"/>
            <a:ext cx="2331720" cy="338554"/>
          </a:xfrm>
          <a:prstGeom prst="rect">
            <a:avLst/>
          </a:prstGeom>
          <a:noFill/>
        </p:spPr>
        <p:txBody>
          <a:bodyPr wrap="square">
            <a:spAutoFit/>
          </a:bodyPr>
          <a:lstStyle/>
          <a:p>
            <a:pPr algn="ctr"/>
            <a:r>
              <a:rPr sz="1600" b="1" dirty="0">
                <a:solidFill>
                  <a:srgbClr val="333333"/>
                </a:solidFill>
                <a:latin typeface="Calibri" panose="020F0502020204030204" pitchFamily="34" charset="0"/>
                <a:cs typeface="Calibri" panose="020F0502020204030204" pitchFamily="34" charset="0"/>
              </a:rPr>
              <a:t>Model Portfolio</a:t>
            </a:r>
          </a:p>
        </p:txBody>
      </p:sp>
      <p:sp>
        <p:nvSpPr>
          <p:cNvPr id="17" name="TextBox 16"/>
          <p:cNvSpPr txBox="1"/>
          <p:nvPr/>
        </p:nvSpPr>
        <p:spPr>
          <a:xfrm>
            <a:off x="3234205" y="300380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82.05%</a:t>
            </a:r>
          </a:p>
        </p:txBody>
      </p:sp>
      <p:sp>
        <p:nvSpPr>
          <p:cNvPr id="18" name="TextBox 17"/>
          <p:cNvSpPr txBox="1"/>
          <p:nvPr/>
        </p:nvSpPr>
        <p:spPr>
          <a:xfrm>
            <a:off x="4880125" y="300380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91.70%</a:t>
            </a:r>
          </a:p>
        </p:txBody>
      </p:sp>
      <p:sp>
        <p:nvSpPr>
          <p:cNvPr id="19" name="TextBox 18"/>
          <p:cNvSpPr txBox="1"/>
          <p:nvPr/>
        </p:nvSpPr>
        <p:spPr>
          <a:xfrm>
            <a:off x="6526045" y="300380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18.58%</a:t>
            </a:r>
          </a:p>
        </p:txBody>
      </p:sp>
      <p:sp>
        <p:nvSpPr>
          <p:cNvPr id="20" name="TextBox 19"/>
          <p:cNvSpPr txBox="1"/>
          <p:nvPr/>
        </p:nvSpPr>
        <p:spPr>
          <a:xfrm>
            <a:off x="8171965" y="3003804"/>
            <a:ext cx="1325880" cy="338554"/>
          </a:xfrm>
          <a:prstGeom prst="rect">
            <a:avLst/>
          </a:prstGeom>
          <a:noFill/>
        </p:spPr>
        <p:txBody>
          <a:bodyPr wrap="square">
            <a:spAutoFit/>
          </a:bodyPr>
          <a:lstStyle/>
          <a:p>
            <a:pPr algn="ctr"/>
            <a:r>
              <a:rPr sz="1600" b="0">
                <a:solidFill>
                  <a:srgbClr val="0066CC"/>
                </a:solidFill>
                <a:latin typeface="Calibri" panose="020F0502020204030204" pitchFamily="34" charset="0"/>
                <a:cs typeface="Calibri" panose="020F0502020204030204" pitchFamily="34" charset="0"/>
              </a:rPr>
              <a:t>3.60 ▲</a:t>
            </a:r>
          </a:p>
        </p:txBody>
      </p:sp>
      <p:sp>
        <p:nvSpPr>
          <p:cNvPr id="21" name="TextBox 20"/>
          <p:cNvSpPr txBox="1"/>
          <p:nvPr/>
        </p:nvSpPr>
        <p:spPr>
          <a:xfrm>
            <a:off x="9543565" y="3003804"/>
            <a:ext cx="13716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-7.24%</a:t>
            </a:r>
          </a:p>
        </p:txBody>
      </p:sp>
      <p:sp>
        <p:nvSpPr>
          <p:cNvPr id="22" name="TextBox 21"/>
          <p:cNvSpPr txBox="1"/>
          <p:nvPr/>
        </p:nvSpPr>
        <p:spPr>
          <a:xfrm>
            <a:off x="10960885" y="3003804"/>
            <a:ext cx="164592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46.21%</a:t>
            </a:r>
          </a:p>
        </p:txBody>
      </p:sp>
      <p:sp>
        <p:nvSpPr>
          <p:cNvPr id="23" name="Rectangle 22"/>
          <p:cNvSpPr/>
          <p:nvPr/>
        </p:nvSpPr>
        <p:spPr>
          <a:xfrm>
            <a:off x="856765" y="3461004"/>
            <a:ext cx="121615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pitchFamily="34" charset="0"/>
              <a:cs typeface="Calibri" panose="020F0502020204030204" pitchFamily="34" charset="0"/>
            </a:endParaRPr>
          </a:p>
        </p:txBody>
      </p:sp>
      <p:sp>
        <p:nvSpPr>
          <p:cNvPr id="24" name="TextBox 23"/>
          <p:cNvSpPr txBox="1"/>
          <p:nvPr/>
        </p:nvSpPr>
        <p:spPr>
          <a:xfrm>
            <a:off x="856765" y="3552444"/>
            <a:ext cx="2331720" cy="338554"/>
          </a:xfrm>
          <a:prstGeom prst="rect">
            <a:avLst/>
          </a:prstGeom>
          <a:noFill/>
        </p:spPr>
        <p:txBody>
          <a:bodyPr wrap="square">
            <a:spAutoFit/>
          </a:bodyPr>
          <a:lstStyle/>
          <a:p>
            <a:pPr algn="ctr"/>
            <a:r>
              <a:rPr sz="1600" b="1" dirty="0">
                <a:solidFill>
                  <a:srgbClr val="333333"/>
                </a:solidFill>
                <a:latin typeface="Calibri" panose="020F0502020204030204" pitchFamily="34" charset="0"/>
                <a:cs typeface="Calibri" panose="020F0502020204030204" pitchFamily="34" charset="0"/>
              </a:rPr>
              <a:t>Model Portfoli</a:t>
            </a:r>
            <a:r>
              <a:rPr lang="en-US" sz="1600" b="1" dirty="0">
                <a:solidFill>
                  <a:srgbClr val="333333"/>
                </a:solidFill>
                <a:latin typeface="Calibri" panose="020F0502020204030204" pitchFamily="34" charset="0"/>
                <a:cs typeface="Calibri" panose="020F0502020204030204" pitchFamily="34" charset="0"/>
              </a:rPr>
              <a:t>o</a:t>
            </a:r>
            <a:endParaRPr sz="1600" b="1" dirty="0">
              <a:solidFill>
                <a:srgbClr val="333333"/>
              </a:solidFill>
              <a:latin typeface="Calibri" panose="020F0502020204030204" pitchFamily="34" charset="0"/>
              <a:cs typeface="Calibri" panose="020F0502020204030204" pitchFamily="34" charset="0"/>
            </a:endParaRPr>
          </a:p>
        </p:txBody>
      </p:sp>
      <p:sp>
        <p:nvSpPr>
          <p:cNvPr id="25" name="TextBox 24"/>
          <p:cNvSpPr txBox="1"/>
          <p:nvPr/>
        </p:nvSpPr>
        <p:spPr>
          <a:xfrm>
            <a:off x="3234205" y="355244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58.81%</a:t>
            </a:r>
          </a:p>
        </p:txBody>
      </p:sp>
      <p:sp>
        <p:nvSpPr>
          <p:cNvPr id="26" name="TextBox 25"/>
          <p:cNvSpPr txBox="1"/>
          <p:nvPr/>
        </p:nvSpPr>
        <p:spPr>
          <a:xfrm>
            <a:off x="4880125" y="355244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65.27%</a:t>
            </a:r>
          </a:p>
        </p:txBody>
      </p:sp>
      <p:sp>
        <p:nvSpPr>
          <p:cNvPr id="27" name="TextBox 26"/>
          <p:cNvSpPr txBox="1"/>
          <p:nvPr/>
        </p:nvSpPr>
        <p:spPr>
          <a:xfrm>
            <a:off x="6526045" y="355244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15.74%</a:t>
            </a:r>
          </a:p>
        </p:txBody>
      </p:sp>
      <p:sp>
        <p:nvSpPr>
          <p:cNvPr id="28" name="TextBox 27"/>
          <p:cNvSpPr txBox="1"/>
          <p:nvPr/>
        </p:nvSpPr>
        <p:spPr>
          <a:xfrm>
            <a:off x="8171965" y="3552444"/>
            <a:ext cx="132588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3.27</a:t>
            </a:r>
          </a:p>
        </p:txBody>
      </p:sp>
      <p:sp>
        <p:nvSpPr>
          <p:cNvPr id="29" name="TextBox 28"/>
          <p:cNvSpPr txBox="1"/>
          <p:nvPr/>
        </p:nvSpPr>
        <p:spPr>
          <a:xfrm>
            <a:off x="9543565" y="3552444"/>
            <a:ext cx="13716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-7.47%</a:t>
            </a:r>
          </a:p>
        </p:txBody>
      </p:sp>
      <p:sp>
        <p:nvSpPr>
          <p:cNvPr id="30" name="TextBox 29"/>
          <p:cNvSpPr txBox="1"/>
          <p:nvPr/>
        </p:nvSpPr>
        <p:spPr>
          <a:xfrm>
            <a:off x="10960885" y="3552444"/>
            <a:ext cx="164592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31.13%</a:t>
            </a:r>
          </a:p>
        </p:txBody>
      </p:sp>
      <p:sp>
        <p:nvSpPr>
          <p:cNvPr id="31" name="Rectangle 30"/>
          <p:cNvSpPr/>
          <p:nvPr/>
        </p:nvSpPr>
        <p:spPr>
          <a:xfrm>
            <a:off x="856765" y="4009644"/>
            <a:ext cx="12161520"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pitchFamily="34" charset="0"/>
              <a:cs typeface="Calibri" panose="020F0502020204030204" pitchFamily="34" charset="0"/>
            </a:endParaRPr>
          </a:p>
        </p:txBody>
      </p:sp>
      <p:sp>
        <p:nvSpPr>
          <p:cNvPr id="32" name="TextBox 31"/>
          <p:cNvSpPr txBox="1"/>
          <p:nvPr/>
        </p:nvSpPr>
        <p:spPr>
          <a:xfrm>
            <a:off x="856765" y="4101084"/>
            <a:ext cx="2331720" cy="338554"/>
          </a:xfrm>
          <a:prstGeom prst="rect">
            <a:avLst/>
          </a:prstGeom>
          <a:noFill/>
        </p:spPr>
        <p:txBody>
          <a:bodyPr wrap="square">
            <a:spAutoFit/>
          </a:bodyPr>
          <a:lstStyle/>
          <a:p>
            <a:pPr algn="ctr"/>
            <a:r>
              <a:rPr sz="1600" b="1">
                <a:solidFill>
                  <a:srgbClr val="333333"/>
                </a:solidFill>
                <a:latin typeface="Calibri" panose="020F0502020204030204" pitchFamily="34" charset="0"/>
                <a:cs typeface="Calibri" panose="020F0502020204030204" pitchFamily="34" charset="0"/>
              </a:rPr>
              <a:t>Equal 50/50</a:t>
            </a:r>
          </a:p>
        </p:txBody>
      </p:sp>
      <p:sp>
        <p:nvSpPr>
          <p:cNvPr id="33" name="TextBox 32"/>
          <p:cNvSpPr txBox="1"/>
          <p:nvPr/>
        </p:nvSpPr>
        <p:spPr>
          <a:xfrm>
            <a:off x="3234205" y="410108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88.52%</a:t>
            </a:r>
          </a:p>
        </p:txBody>
      </p:sp>
      <p:sp>
        <p:nvSpPr>
          <p:cNvPr id="34" name="TextBox 33"/>
          <p:cNvSpPr txBox="1"/>
          <p:nvPr/>
        </p:nvSpPr>
        <p:spPr>
          <a:xfrm>
            <a:off x="4880125" y="410108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99.11%</a:t>
            </a:r>
          </a:p>
        </p:txBody>
      </p:sp>
      <p:sp>
        <p:nvSpPr>
          <p:cNvPr id="35" name="TextBox 34"/>
          <p:cNvSpPr txBox="1"/>
          <p:nvPr/>
        </p:nvSpPr>
        <p:spPr>
          <a:xfrm>
            <a:off x="6526045" y="410108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19.39%</a:t>
            </a:r>
          </a:p>
        </p:txBody>
      </p:sp>
      <p:sp>
        <p:nvSpPr>
          <p:cNvPr id="36" name="TextBox 35"/>
          <p:cNvSpPr txBox="1"/>
          <p:nvPr/>
        </p:nvSpPr>
        <p:spPr>
          <a:xfrm>
            <a:off x="8171965" y="4101084"/>
            <a:ext cx="132588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3.65</a:t>
            </a:r>
          </a:p>
        </p:txBody>
      </p:sp>
      <p:sp>
        <p:nvSpPr>
          <p:cNvPr id="37" name="TextBox 36"/>
          <p:cNvSpPr txBox="1"/>
          <p:nvPr/>
        </p:nvSpPr>
        <p:spPr>
          <a:xfrm>
            <a:off x="9543565" y="4101084"/>
            <a:ext cx="13716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-7.20%</a:t>
            </a:r>
          </a:p>
        </p:txBody>
      </p:sp>
      <p:sp>
        <p:nvSpPr>
          <p:cNvPr id="38" name="TextBox 37"/>
          <p:cNvSpPr txBox="1"/>
          <p:nvPr/>
        </p:nvSpPr>
        <p:spPr>
          <a:xfrm>
            <a:off x="10960885" y="4101084"/>
            <a:ext cx="164592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50.00%</a:t>
            </a:r>
          </a:p>
        </p:txBody>
      </p:sp>
      <p:sp>
        <p:nvSpPr>
          <p:cNvPr id="39" name="Rectangle 38"/>
          <p:cNvSpPr/>
          <p:nvPr/>
        </p:nvSpPr>
        <p:spPr>
          <a:xfrm>
            <a:off x="856765" y="4558284"/>
            <a:ext cx="121615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pitchFamily="34" charset="0"/>
              <a:cs typeface="Calibri" panose="020F0502020204030204" pitchFamily="34" charset="0"/>
            </a:endParaRPr>
          </a:p>
        </p:txBody>
      </p:sp>
      <p:sp>
        <p:nvSpPr>
          <p:cNvPr id="40" name="TextBox 39"/>
          <p:cNvSpPr txBox="1"/>
          <p:nvPr/>
        </p:nvSpPr>
        <p:spPr>
          <a:xfrm>
            <a:off x="856765" y="4649724"/>
            <a:ext cx="2331720" cy="338554"/>
          </a:xfrm>
          <a:prstGeom prst="rect">
            <a:avLst/>
          </a:prstGeom>
          <a:noFill/>
        </p:spPr>
        <p:txBody>
          <a:bodyPr wrap="square">
            <a:spAutoFit/>
          </a:bodyPr>
          <a:lstStyle/>
          <a:p>
            <a:pPr algn="ctr"/>
            <a:r>
              <a:rPr sz="1600" b="1">
                <a:solidFill>
                  <a:srgbClr val="333333"/>
                </a:solidFill>
                <a:latin typeface="Calibri" panose="020F0502020204030204" pitchFamily="34" charset="0"/>
                <a:cs typeface="Calibri" panose="020F0502020204030204" pitchFamily="34" charset="0"/>
              </a:rPr>
              <a:t>IPO only</a:t>
            </a:r>
          </a:p>
        </p:txBody>
      </p:sp>
      <p:sp>
        <p:nvSpPr>
          <p:cNvPr id="41" name="TextBox 40"/>
          <p:cNvSpPr txBox="1"/>
          <p:nvPr/>
        </p:nvSpPr>
        <p:spPr>
          <a:xfrm>
            <a:off x="3234205" y="464972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192.78%</a:t>
            </a:r>
          </a:p>
        </p:txBody>
      </p:sp>
      <p:sp>
        <p:nvSpPr>
          <p:cNvPr id="42" name="TextBox 41"/>
          <p:cNvSpPr txBox="1"/>
          <p:nvPr/>
        </p:nvSpPr>
        <p:spPr>
          <a:xfrm>
            <a:off x="4880125" y="464972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221.19%</a:t>
            </a:r>
          </a:p>
        </p:txBody>
      </p:sp>
      <p:sp>
        <p:nvSpPr>
          <p:cNvPr id="43" name="TextBox 42"/>
          <p:cNvSpPr txBox="1"/>
          <p:nvPr/>
        </p:nvSpPr>
        <p:spPr>
          <a:xfrm>
            <a:off x="6526045" y="464972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31.03%</a:t>
            </a:r>
          </a:p>
        </p:txBody>
      </p:sp>
      <p:sp>
        <p:nvSpPr>
          <p:cNvPr id="44" name="TextBox 43"/>
          <p:cNvSpPr txBox="1"/>
          <p:nvPr/>
        </p:nvSpPr>
        <p:spPr>
          <a:xfrm>
            <a:off x="8171965" y="4649724"/>
            <a:ext cx="132588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3.92</a:t>
            </a:r>
          </a:p>
        </p:txBody>
      </p:sp>
      <p:sp>
        <p:nvSpPr>
          <p:cNvPr id="45" name="TextBox 44"/>
          <p:cNvSpPr txBox="1"/>
          <p:nvPr/>
        </p:nvSpPr>
        <p:spPr>
          <a:xfrm>
            <a:off x="9543565" y="4649724"/>
            <a:ext cx="13716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-10.08%</a:t>
            </a:r>
          </a:p>
        </p:txBody>
      </p:sp>
      <p:sp>
        <p:nvSpPr>
          <p:cNvPr id="46" name="TextBox 45"/>
          <p:cNvSpPr txBox="1"/>
          <p:nvPr/>
        </p:nvSpPr>
        <p:spPr>
          <a:xfrm>
            <a:off x="10960885" y="4649724"/>
            <a:ext cx="164592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100.00%</a:t>
            </a:r>
          </a:p>
        </p:txBody>
      </p:sp>
      <p:sp>
        <p:nvSpPr>
          <p:cNvPr id="47" name="Rectangle 46"/>
          <p:cNvSpPr/>
          <p:nvPr/>
        </p:nvSpPr>
        <p:spPr>
          <a:xfrm>
            <a:off x="856765" y="5106924"/>
            <a:ext cx="12161520"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Calibri" panose="020F0502020204030204" pitchFamily="34" charset="0"/>
              <a:cs typeface="Calibri" panose="020F0502020204030204" pitchFamily="34" charset="0"/>
            </a:endParaRPr>
          </a:p>
        </p:txBody>
      </p:sp>
      <p:sp>
        <p:nvSpPr>
          <p:cNvPr id="48" name="TextBox 47"/>
          <p:cNvSpPr txBox="1"/>
          <p:nvPr/>
        </p:nvSpPr>
        <p:spPr>
          <a:xfrm>
            <a:off x="856765" y="5198364"/>
            <a:ext cx="2331720" cy="338554"/>
          </a:xfrm>
          <a:prstGeom prst="rect">
            <a:avLst/>
          </a:prstGeom>
          <a:noFill/>
        </p:spPr>
        <p:txBody>
          <a:bodyPr wrap="square">
            <a:spAutoFit/>
          </a:bodyPr>
          <a:lstStyle/>
          <a:p>
            <a:pPr algn="ctr"/>
            <a:r>
              <a:rPr sz="1600" b="1" dirty="0">
                <a:solidFill>
                  <a:srgbClr val="333333"/>
                </a:solidFill>
                <a:latin typeface="Calibri" panose="020F0502020204030204" pitchFamily="34" charset="0"/>
                <a:cs typeface="Calibri" panose="020F0502020204030204" pitchFamily="34" charset="0"/>
              </a:rPr>
              <a:t>Market only</a:t>
            </a:r>
          </a:p>
        </p:txBody>
      </p:sp>
      <p:sp>
        <p:nvSpPr>
          <p:cNvPr id="49" name="TextBox 48"/>
          <p:cNvSpPr txBox="1"/>
          <p:nvPr/>
        </p:nvSpPr>
        <p:spPr>
          <a:xfrm>
            <a:off x="3234205" y="519836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19.40%</a:t>
            </a:r>
          </a:p>
        </p:txBody>
      </p:sp>
      <p:sp>
        <p:nvSpPr>
          <p:cNvPr id="50" name="TextBox 49"/>
          <p:cNvSpPr txBox="1"/>
          <p:nvPr/>
        </p:nvSpPr>
        <p:spPr>
          <a:xfrm>
            <a:off x="4880125" y="519836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21.24%</a:t>
            </a:r>
          </a:p>
        </p:txBody>
      </p:sp>
      <p:sp>
        <p:nvSpPr>
          <p:cNvPr id="51" name="TextBox 50"/>
          <p:cNvSpPr txBox="1"/>
          <p:nvPr/>
        </p:nvSpPr>
        <p:spPr>
          <a:xfrm>
            <a:off x="6526045" y="5198364"/>
            <a:ext cx="16002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12.25%</a:t>
            </a:r>
          </a:p>
        </p:txBody>
      </p:sp>
      <p:sp>
        <p:nvSpPr>
          <p:cNvPr id="52" name="TextBox 51"/>
          <p:cNvSpPr txBox="1"/>
          <p:nvPr/>
        </p:nvSpPr>
        <p:spPr>
          <a:xfrm>
            <a:off x="8171965" y="5198364"/>
            <a:ext cx="132588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1.63</a:t>
            </a:r>
          </a:p>
        </p:txBody>
      </p:sp>
      <p:sp>
        <p:nvSpPr>
          <p:cNvPr id="53" name="TextBox 52"/>
          <p:cNvSpPr txBox="1"/>
          <p:nvPr/>
        </p:nvSpPr>
        <p:spPr>
          <a:xfrm>
            <a:off x="9543565" y="5198364"/>
            <a:ext cx="137160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-7.89%</a:t>
            </a:r>
          </a:p>
        </p:txBody>
      </p:sp>
      <p:sp>
        <p:nvSpPr>
          <p:cNvPr id="54" name="TextBox 53"/>
          <p:cNvSpPr txBox="1"/>
          <p:nvPr/>
        </p:nvSpPr>
        <p:spPr>
          <a:xfrm>
            <a:off x="10960885" y="5198364"/>
            <a:ext cx="1645920" cy="338554"/>
          </a:xfrm>
          <a:prstGeom prst="rect">
            <a:avLst/>
          </a:prstGeom>
          <a:noFill/>
        </p:spPr>
        <p:txBody>
          <a:bodyPr wrap="square">
            <a:spAutoFit/>
          </a:bodyPr>
          <a:lstStyle/>
          <a:p>
            <a:pPr algn="ctr"/>
            <a:r>
              <a:rPr sz="1600" b="0">
                <a:solidFill>
                  <a:srgbClr val="333333"/>
                </a:solidFill>
                <a:latin typeface="Calibri" panose="020F0502020204030204" pitchFamily="34" charset="0"/>
                <a:cs typeface="Calibri" panose="020F0502020204030204" pitchFamily="34" charset="0"/>
              </a:rPr>
              <a:t>0.00%</a:t>
            </a:r>
          </a:p>
        </p:txBody>
      </p:sp>
      <p:sp>
        <p:nvSpPr>
          <p:cNvPr id="55" name="TextBox 54"/>
          <p:cNvSpPr txBox="1"/>
          <p:nvPr/>
        </p:nvSpPr>
        <p:spPr>
          <a:xfrm>
            <a:off x="457200" y="6903720"/>
            <a:ext cx="12161520" cy="261610"/>
          </a:xfrm>
          <a:prstGeom prst="rect">
            <a:avLst/>
          </a:prstGeom>
          <a:noFill/>
        </p:spPr>
        <p:txBody>
          <a:bodyPr wrap="square">
            <a:spAutoFit/>
          </a:bodyPr>
          <a:lstStyle/>
          <a:p>
            <a:pPr algn="l"/>
            <a:r>
              <a:rPr sz="1100" b="0">
                <a:solidFill>
                  <a:srgbClr val="333333"/>
                </a:solidFill>
                <a:latin typeface="Calibri" panose="020F0502020204030204" pitchFamily="34" charset="0"/>
                <a:cs typeface="Calibri" panose="020F0502020204030204" pitchFamily="34" charset="0"/>
              </a:rPr>
              <a:t>Key changes: Sharpe +10% (3.27→3.60) | Total return +39% (58.81%→82.05%) | IPO allocation +49% (31%→46%) | Max drawdown improved -7.47%→-7.24%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5528" y="320040"/>
            <a:ext cx="13039344" cy="523220"/>
          </a:xfrm>
          <a:prstGeom prst="rect">
            <a:avLst/>
          </a:prstGeom>
          <a:noFill/>
        </p:spPr>
        <p:txBody>
          <a:bodyPr wrap="square">
            <a:spAutoFit/>
          </a:bodyPr>
          <a:lstStyle/>
          <a:p>
            <a:pPr algn="l"/>
            <a:r>
              <a:rPr sz="2800" b="1">
                <a:solidFill>
                  <a:srgbClr val="0066CC"/>
                </a:solidFill>
                <a:latin typeface="Calibri" panose="020F0502020204030204" pitchFamily="34" charset="0"/>
                <a:cs typeface="Calibri" panose="020F0502020204030204" pitchFamily="34" charset="0"/>
              </a:rPr>
              <a:t>Validation Period: Cumulative Returns</a:t>
            </a:r>
          </a:p>
        </p:txBody>
      </p:sp>
      <p:sp>
        <p:nvSpPr>
          <p:cNvPr id="3" name="Rectangle 2"/>
          <p:cNvSpPr/>
          <p:nvPr/>
        </p:nvSpPr>
        <p:spPr>
          <a:xfrm>
            <a:off x="795528" y="896112"/>
            <a:ext cx="13039344"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4" name="Rectangle 3"/>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5" name="TextBox 4"/>
          <p:cNvSpPr txBox="1"/>
          <p:nvPr/>
        </p:nvSpPr>
        <p:spPr>
          <a:xfrm>
            <a:off x="12664440" y="7662672"/>
            <a:ext cx="2029968" cy="230832"/>
          </a:xfrm>
          <a:prstGeom prst="rect">
            <a:avLst/>
          </a:prstGeom>
          <a:noFill/>
        </p:spPr>
        <p:txBody>
          <a:bodyPr wrap="square">
            <a:spAutoFit/>
          </a:bodyPr>
          <a:lstStyle/>
          <a:p>
            <a:pPr algn="ctr"/>
            <a:r>
              <a:rPr sz="900" b="0">
                <a:solidFill>
                  <a:srgbClr val="FFFFFF"/>
                </a:solidFill>
                <a:latin typeface="Calibri" panose="020F0502020204030204" pitchFamily="34" charset="0"/>
                <a:cs typeface="Calibri" panose="020F0502020204030204" pitchFamily="34" charset="0"/>
              </a:rPr>
              <a:t>STAT 4830 — Spring 2026</a:t>
            </a:r>
          </a:p>
        </p:txBody>
      </p:sp>
      <p:pic>
        <p:nvPicPr>
          <p:cNvPr id="6" name="Picture 5" descr="validation_cumulative_returns.png"/>
          <p:cNvPicPr>
            <a:picLocks noChangeAspect="1"/>
          </p:cNvPicPr>
          <p:nvPr/>
        </p:nvPicPr>
        <p:blipFill>
          <a:blip r:embed="rId2"/>
          <a:stretch>
            <a:fillRect/>
          </a:stretch>
        </p:blipFill>
        <p:spPr>
          <a:xfrm>
            <a:off x="411480" y="1480777"/>
            <a:ext cx="8412480" cy="5187142"/>
          </a:xfrm>
          <a:prstGeom prst="rect">
            <a:avLst/>
          </a:prstGeom>
        </p:spPr>
      </p:pic>
      <p:sp>
        <p:nvSpPr>
          <p:cNvPr id="7" name="TextBox 6"/>
          <p:cNvSpPr txBox="1"/>
          <p:nvPr/>
        </p:nvSpPr>
        <p:spPr>
          <a:xfrm>
            <a:off x="8961120" y="1370217"/>
            <a:ext cx="5394960" cy="369332"/>
          </a:xfrm>
          <a:prstGeom prst="rect">
            <a:avLst/>
          </a:prstGeom>
          <a:noFill/>
        </p:spPr>
        <p:txBody>
          <a:bodyPr wrap="square">
            <a:spAutoFit/>
          </a:bodyPr>
          <a:lstStyle/>
          <a:p>
            <a:pPr algn="l"/>
            <a:r>
              <a:rPr b="1">
                <a:solidFill>
                  <a:srgbClr val="0066CC"/>
                </a:solidFill>
                <a:latin typeface="Calibri" panose="020F0502020204030204" pitchFamily="34" charset="0"/>
                <a:cs typeface="Calibri" panose="020F0502020204030204" pitchFamily="34" charset="0"/>
              </a:rPr>
              <a:t>▸  Model vs Baselines</a:t>
            </a:r>
          </a:p>
        </p:txBody>
      </p:sp>
      <p:sp>
        <p:nvSpPr>
          <p:cNvPr id="8" name="TextBox 7"/>
          <p:cNvSpPr txBox="1"/>
          <p:nvPr/>
        </p:nvSpPr>
        <p:spPr>
          <a:xfrm>
            <a:off x="9235440" y="1681113"/>
            <a:ext cx="5120640" cy="830997"/>
          </a:xfrm>
          <a:prstGeom prst="rect">
            <a:avLst/>
          </a:prstGeom>
          <a:noFill/>
        </p:spPr>
        <p:txBody>
          <a:bodyPr wrap="square">
            <a:spAutoFit/>
          </a:bodyPr>
          <a:lstStyle/>
          <a:p>
            <a:pPr algn="l"/>
            <a:r>
              <a:rPr sz="1600" b="0">
                <a:solidFill>
                  <a:srgbClr val="333333"/>
                </a:solidFill>
                <a:latin typeface="Calibri" panose="020F0502020204030204" pitchFamily="34" charset="0"/>
                <a:cs typeface="Calibri" panose="020F0502020204030204" pitchFamily="34" charset="0"/>
              </a:rPr>
              <a:t>Model (106%) roughly tracks Equal 50/50 (115%) but underperforms IPO-only (244%). The model adds value over market-only (+85pp) while maintaining tighter drawdown.</a:t>
            </a:r>
          </a:p>
        </p:txBody>
      </p:sp>
      <p:sp>
        <p:nvSpPr>
          <p:cNvPr id="9" name="TextBox 8"/>
          <p:cNvSpPr txBox="1"/>
          <p:nvPr/>
        </p:nvSpPr>
        <p:spPr>
          <a:xfrm>
            <a:off x="8961120" y="2412633"/>
            <a:ext cx="5394960" cy="369332"/>
          </a:xfrm>
          <a:prstGeom prst="rect">
            <a:avLst/>
          </a:prstGeom>
          <a:noFill/>
        </p:spPr>
        <p:txBody>
          <a:bodyPr wrap="square">
            <a:spAutoFit/>
          </a:bodyPr>
          <a:lstStyle/>
          <a:p>
            <a:pPr algn="l"/>
            <a:r>
              <a:rPr b="1">
                <a:solidFill>
                  <a:srgbClr val="0066CC"/>
                </a:solidFill>
                <a:latin typeface="Calibri" panose="020F0502020204030204" pitchFamily="34" charset="0"/>
                <a:cs typeface="Calibri" panose="020F0502020204030204" pitchFamily="34" charset="0"/>
              </a:rPr>
              <a:t>▸  Q1–Q2 2024: Tight clustering</a:t>
            </a:r>
          </a:p>
        </p:txBody>
      </p:sp>
      <p:sp>
        <p:nvSpPr>
          <p:cNvPr id="10" name="TextBox 9"/>
          <p:cNvSpPr txBox="1"/>
          <p:nvPr/>
        </p:nvSpPr>
        <p:spPr>
          <a:xfrm>
            <a:off x="9235440" y="2723529"/>
            <a:ext cx="5120640" cy="830997"/>
          </a:xfrm>
          <a:prstGeom prst="rect">
            <a:avLst/>
          </a:prstGeom>
          <a:noFill/>
        </p:spPr>
        <p:txBody>
          <a:bodyPr wrap="square">
            <a:spAutoFit/>
          </a:bodyPr>
          <a:lstStyle/>
          <a:p>
            <a:pPr algn="l"/>
            <a:r>
              <a:rPr sz="1600" b="0">
                <a:solidFill>
                  <a:srgbClr val="333333"/>
                </a:solidFill>
                <a:latin typeface="Calibri" panose="020F0502020204030204" pitchFamily="34" charset="0"/>
                <a:cs typeface="Calibri" panose="020F0502020204030204" pitchFamily="34" charset="0"/>
              </a:rPr>
              <a:t>All strategies converge until July. The model closely follows equal-weight, suggesting the GRU has not yet learned to differentiate market regimes in this period.</a:t>
            </a:r>
          </a:p>
        </p:txBody>
      </p:sp>
      <p:sp>
        <p:nvSpPr>
          <p:cNvPr id="11" name="TextBox 10"/>
          <p:cNvSpPr txBox="1"/>
          <p:nvPr/>
        </p:nvSpPr>
        <p:spPr>
          <a:xfrm>
            <a:off x="8961120" y="3455049"/>
            <a:ext cx="5394960" cy="369332"/>
          </a:xfrm>
          <a:prstGeom prst="rect">
            <a:avLst/>
          </a:prstGeom>
          <a:noFill/>
        </p:spPr>
        <p:txBody>
          <a:bodyPr wrap="square">
            <a:spAutoFit/>
          </a:bodyPr>
          <a:lstStyle/>
          <a:p>
            <a:pPr algn="l"/>
            <a:r>
              <a:rPr b="1">
                <a:solidFill>
                  <a:srgbClr val="0066CC"/>
                </a:solidFill>
                <a:latin typeface="Calibri" panose="020F0502020204030204" pitchFamily="34" charset="0"/>
                <a:cs typeface="Calibri" panose="020F0502020204030204" pitchFamily="34" charset="0"/>
              </a:rPr>
              <a:t>▸  Aug 2024: Yen carry unwind (VIX→65)</a:t>
            </a:r>
          </a:p>
        </p:txBody>
      </p:sp>
      <p:sp>
        <p:nvSpPr>
          <p:cNvPr id="12" name="TextBox 11"/>
          <p:cNvSpPr txBox="1"/>
          <p:nvPr/>
        </p:nvSpPr>
        <p:spPr>
          <a:xfrm>
            <a:off x="9235440" y="3765945"/>
            <a:ext cx="5120640" cy="830997"/>
          </a:xfrm>
          <a:prstGeom prst="rect">
            <a:avLst/>
          </a:prstGeom>
          <a:noFill/>
        </p:spPr>
        <p:txBody>
          <a:bodyPr wrap="square">
            <a:spAutoFit/>
          </a:bodyPr>
          <a:lstStyle/>
          <a:p>
            <a:pPr algn="l"/>
            <a:r>
              <a:rPr sz="1600" b="0">
                <a:solidFill>
                  <a:srgbClr val="333333"/>
                </a:solidFill>
                <a:latin typeface="Calibri" panose="020F0502020204030204" pitchFamily="34" charset="0"/>
                <a:cs typeface="Calibri" panose="020F0502020204030204" pitchFamily="34" charset="0"/>
              </a:rPr>
              <a:t>A sharp drawdown is visible across all strategies. The model does not reduce IPO exposure ahead of the event — a key failure of the static-weight regime.</a:t>
            </a:r>
          </a:p>
        </p:txBody>
      </p:sp>
      <p:sp>
        <p:nvSpPr>
          <p:cNvPr id="13" name="TextBox 12"/>
          <p:cNvSpPr txBox="1"/>
          <p:nvPr/>
        </p:nvSpPr>
        <p:spPr>
          <a:xfrm>
            <a:off x="8961120" y="4497465"/>
            <a:ext cx="5394960" cy="369332"/>
          </a:xfrm>
          <a:prstGeom prst="rect">
            <a:avLst/>
          </a:prstGeom>
          <a:noFill/>
        </p:spPr>
        <p:txBody>
          <a:bodyPr wrap="square">
            <a:spAutoFit/>
          </a:bodyPr>
          <a:lstStyle/>
          <a:p>
            <a:pPr algn="l"/>
            <a:r>
              <a:rPr b="1">
                <a:solidFill>
                  <a:srgbClr val="0066CC"/>
                </a:solidFill>
                <a:latin typeface="Calibri" panose="020F0502020204030204" pitchFamily="34" charset="0"/>
                <a:cs typeface="Calibri" panose="020F0502020204030204" pitchFamily="34" charset="0"/>
              </a:rPr>
              <a:t>▸  Nov–Dec 2024: Election + Fed divergence</a:t>
            </a:r>
          </a:p>
        </p:txBody>
      </p:sp>
      <p:sp>
        <p:nvSpPr>
          <p:cNvPr id="14" name="TextBox 13"/>
          <p:cNvSpPr txBox="1"/>
          <p:nvPr/>
        </p:nvSpPr>
        <p:spPr>
          <a:xfrm>
            <a:off x="9235440" y="4808361"/>
            <a:ext cx="5120640" cy="830997"/>
          </a:xfrm>
          <a:prstGeom prst="rect">
            <a:avLst/>
          </a:prstGeom>
          <a:noFill/>
        </p:spPr>
        <p:txBody>
          <a:bodyPr wrap="square">
            <a:spAutoFit/>
          </a:bodyPr>
          <a:lstStyle/>
          <a:p>
            <a:pPr algn="l"/>
            <a:r>
              <a:rPr sz="1600" b="0">
                <a:solidFill>
                  <a:srgbClr val="333333"/>
                </a:solidFill>
                <a:latin typeface="Calibri" panose="020F0502020204030204" pitchFamily="34" charset="0"/>
                <a:cs typeface="Calibri" panose="020F0502020204030204" pitchFamily="34" charset="0"/>
              </a:rPr>
              <a:t>IPO-only surges on the Trump rally while the model trails. The vol-excess penalty (target 25%) caps the model's upside when IPO volatility spikes above the threshold.</a:t>
            </a:r>
          </a:p>
        </p:txBody>
      </p:sp>
      <p:sp>
        <p:nvSpPr>
          <p:cNvPr id="15" name="TextBox 14"/>
          <p:cNvSpPr txBox="1"/>
          <p:nvPr/>
        </p:nvSpPr>
        <p:spPr>
          <a:xfrm>
            <a:off x="8961120" y="5539881"/>
            <a:ext cx="5394960" cy="369332"/>
          </a:xfrm>
          <a:prstGeom prst="rect">
            <a:avLst/>
          </a:prstGeom>
          <a:noFill/>
        </p:spPr>
        <p:txBody>
          <a:bodyPr wrap="square">
            <a:spAutoFit/>
          </a:bodyPr>
          <a:lstStyle/>
          <a:p>
            <a:pPr algn="l"/>
            <a:r>
              <a:rPr b="1">
                <a:solidFill>
                  <a:srgbClr val="0066CC"/>
                </a:solidFill>
                <a:latin typeface="Calibri" panose="020F0502020204030204" pitchFamily="34" charset="0"/>
                <a:cs typeface="Calibri" panose="020F0502020204030204" pitchFamily="34" charset="0"/>
              </a:rPr>
              <a:t>▸  Interpretation</a:t>
            </a:r>
          </a:p>
        </p:txBody>
      </p:sp>
      <p:sp>
        <p:nvSpPr>
          <p:cNvPr id="16" name="TextBox 15"/>
          <p:cNvSpPr txBox="1"/>
          <p:nvPr/>
        </p:nvSpPr>
        <p:spPr>
          <a:xfrm>
            <a:off x="9235440" y="5850777"/>
            <a:ext cx="5120640" cy="830997"/>
          </a:xfrm>
          <a:prstGeom prst="rect">
            <a:avLst/>
          </a:prstGeom>
          <a:noFill/>
        </p:spPr>
        <p:txBody>
          <a:bodyPr wrap="square">
            <a:spAutoFit/>
          </a:bodyPr>
          <a:lstStyle/>
          <a:p>
            <a:pPr algn="l"/>
            <a:r>
              <a:rPr sz="1600" b="0" dirty="0">
                <a:solidFill>
                  <a:srgbClr val="333333"/>
                </a:solidFill>
                <a:latin typeface="Calibri" panose="020F0502020204030204" pitchFamily="34" charset="0"/>
                <a:cs typeface="Calibri" panose="020F0502020204030204" pitchFamily="34" charset="0"/>
              </a:rPr>
              <a:t>The model achieves Sharpe 3.60 vs 3.65 (equal-weight) — near parity, but without true dynamic timing the model cannot exploit regime transitions.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5528" y="320040"/>
            <a:ext cx="13039344" cy="523220"/>
          </a:xfrm>
          <a:prstGeom prst="rect">
            <a:avLst/>
          </a:prstGeom>
          <a:noFill/>
        </p:spPr>
        <p:txBody>
          <a:bodyPr wrap="square">
            <a:spAutoFit/>
          </a:bodyPr>
          <a:lstStyle/>
          <a:p>
            <a:pPr algn="l"/>
            <a:r>
              <a:rPr sz="2800" b="1">
                <a:solidFill>
                  <a:srgbClr val="0066CC"/>
                </a:solidFill>
                <a:latin typeface="Calibri" panose="020F0502020204030204" pitchFamily="34" charset="0"/>
                <a:cs typeface="Calibri" panose="020F0502020204030204" pitchFamily="34" charset="0"/>
              </a:rPr>
              <a:t>Validation Period: Optimization Objective</a:t>
            </a:r>
          </a:p>
        </p:txBody>
      </p:sp>
      <p:sp>
        <p:nvSpPr>
          <p:cNvPr id="3" name="Rectangle 2"/>
          <p:cNvSpPr/>
          <p:nvPr/>
        </p:nvSpPr>
        <p:spPr>
          <a:xfrm>
            <a:off x="795528" y="896112"/>
            <a:ext cx="13039344"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4" name="Rectangle 3"/>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cs typeface="Calibri" panose="020F0502020204030204" pitchFamily="34" charset="0"/>
            </a:endParaRPr>
          </a:p>
        </p:txBody>
      </p:sp>
      <p:sp>
        <p:nvSpPr>
          <p:cNvPr id="5" name="TextBox 4"/>
          <p:cNvSpPr txBox="1"/>
          <p:nvPr/>
        </p:nvSpPr>
        <p:spPr>
          <a:xfrm>
            <a:off x="12664440" y="7662672"/>
            <a:ext cx="2029968" cy="230832"/>
          </a:xfrm>
          <a:prstGeom prst="rect">
            <a:avLst/>
          </a:prstGeom>
          <a:noFill/>
        </p:spPr>
        <p:txBody>
          <a:bodyPr wrap="square">
            <a:spAutoFit/>
          </a:bodyPr>
          <a:lstStyle/>
          <a:p>
            <a:pPr algn="ctr"/>
            <a:r>
              <a:rPr sz="900" b="0">
                <a:solidFill>
                  <a:srgbClr val="FFFFFF"/>
                </a:solidFill>
                <a:latin typeface="Calibri" panose="020F0502020204030204" pitchFamily="34" charset="0"/>
                <a:cs typeface="Calibri" panose="020F0502020204030204" pitchFamily="34" charset="0"/>
              </a:rPr>
              <a:t>STAT 4830 — Spring 2026</a:t>
            </a:r>
          </a:p>
        </p:txBody>
      </p:sp>
      <p:pic>
        <p:nvPicPr>
          <p:cNvPr id="6" name="Picture 5" descr="validation_objective.png"/>
          <p:cNvPicPr>
            <a:picLocks noChangeAspect="1"/>
          </p:cNvPicPr>
          <p:nvPr/>
        </p:nvPicPr>
        <p:blipFill>
          <a:blip r:embed="rId2"/>
          <a:stretch>
            <a:fillRect/>
          </a:stretch>
        </p:blipFill>
        <p:spPr>
          <a:xfrm>
            <a:off x="365760" y="1005840"/>
            <a:ext cx="8412480" cy="6858000"/>
          </a:xfrm>
          <a:prstGeom prst="rect">
            <a:avLst/>
          </a:prstGeom>
        </p:spPr>
      </p:pic>
      <p:sp>
        <p:nvSpPr>
          <p:cNvPr id="7" name="TextBox 6"/>
          <p:cNvSpPr txBox="1"/>
          <p:nvPr/>
        </p:nvSpPr>
        <p:spPr>
          <a:xfrm>
            <a:off x="8961120" y="1273235"/>
            <a:ext cx="5394960" cy="338554"/>
          </a:xfrm>
          <a:prstGeom prst="rect">
            <a:avLst/>
          </a:prstGeom>
          <a:noFill/>
        </p:spPr>
        <p:txBody>
          <a:bodyPr wrap="square">
            <a:spAutoFit/>
          </a:bodyPr>
          <a:lstStyle/>
          <a:p>
            <a:pPr algn="l"/>
            <a:r>
              <a:rPr sz="1600" b="1">
                <a:solidFill>
                  <a:srgbClr val="0066CC"/>
                </a:solidFill>
                <a:latin typeface="Calibri" panose="020F0502020204030204" pitchFamily="34" charset="0"/>
                <a:cs typeface="Calibri" panose="020F0502020204030204" pitchFamily="34" charset="0"/>
              </a:rPr>
              <a:t>▸  Combined objective L (upper panel)</a:t>
            </a:r>
          </a:p>
        </p:txBody>
      </p:sp>
      <p:sp>
        <p:nvSpPr>
          <p:cNvPr id="8" name="TextBox 7"/>
          <p:cNvSpPr txBox="1"/>
          <p:nvPr/>
        </p:nvSpPr>
        <p:spPr>
          <a:xfrm>
            <a:off x="9235440" y="1584131"/>
            <a:ext cx="5120640" cy="738664"/>
          </a:xfrm>
          <a:prstGeom prst="rect">
            <a:avLst/>
          </a:prstGeom>
          <a:noFill/>
        </p:spPr>
        <p:txBody>
          <a:bodyPr wrap="square">
            <a:spAutoFit/>
          </a:bodyPr>
          <a:lstStyle/>
          <a:p>
            <a:pPr algn="l"/>
            <a:r>
              <a:rPr sz="1400" b="0">
                <a:solidFill>
                  <a:srgbClr val="333333"/>
                </a:solidFill>
                <a:latin typeface="Calibri" panose="020F0502020204030204" pitchFamily="34" charset="0"/>
                <a:cs typeface="Calibri" panose="020F0502020204030204" pitchFamily="34" charset="0"/>
              </a:rPr>
              <a:t>L = −mean_return + λ_vol·Var + λ_cvar·(−CVaR) + λ_vol_excess·excess. Spikes in Mar and Oct–Nov coincide with periods of elevated IPO volatility. Lower is better.</a:t>
            </a:r>
          </a:p>
        </p:txBody>
      </p:sp>
      <p:sp>
        <p:nvSpPr>
          <p:cNvPr id="9" name="TextBox 8"/>
          <p:cNvSpPr txBox="1"/>
          <p:nvPr/>
        </p:nvSpPr>
        <p:spPr>
          <a:xfrm>
            <a:off x="8961120" y="2315651"/>
            <a:ext cx="5394960" cy="338554"/>
          </a:xfrm>
          <a:prstGeom prst="rect">
            <a:avLst/>
          </a:prstGeom>
          <a:noFill/>
        </p:spPr>
        <p:txBody>
          <a:bodyPr wrap="square">
            <a:spAutoFit/>
          </a:bodyPr>
          <a:lstStyle/>
          <a:p>
            <a:pPr algn="l"/>
            <a:r>
              <a:rPr sz="1600" b="1">
                <a:solidFill>
                  <a:srgbClr val="0066CC"/>
                </a:solidFill>
                <a:latin typeface="Calibri" panose="020F0502020204030204" pitchFamily="34" charset="0"/>
                <a:cs typeface="Calibri" panose="020F0502020204030204" pitchFamily="34" charset="0"/>
              </a:rPr>
              <a:t>▸  Mar 2024 spike</a:t>
            </a:r>
          </a:p>
        </p:txBody>
      </p:sp>
      <p:sp>
        <p:nvSpPr>
          <p:cNvPr id="10" name="TextBox 9"/>
          <p:cNvSpPr txBox="1"/>
          <p:nvPr/>
        </p:nvSpPr>
        <p:spPr>
          <a:xfrm>
            <a:off x="9235440" y="2626547"/>
            <a:ext cx="5120640" cy="738664"/>
          </a:xfrm>
          <a:prstGeom prst="rect">
            <a:avLst/>
          </a:prstGeom>
          <a:noFill/>
        </p:spPr>
        <p:txBody>
          <a:bodyPr wrap="square">
            <a:spAutoFit/>
          </a:bodyPr>
          <a:lstStyle/>
          <a:p>
            <a:pPr algn="l"/>
            <a:r>
              <a:rPr sz="1400" b="0">
                <a:solidFill>
                  <a:srgbClr val="333333"/>
                </a:solidFill>
                <a:latin typeface="Calibri" panose="020F0502020204030204" pitchFamily="34" charset="0"/>
                <a:cs typeface="Calibri" panose="020F0502020204030204" pitchFamily="34" charset="0"/>
              </a:rPr>
              <a:t>Objective peaks sharply in early March when IPO index variance surged. The vol-excess and CVaR penalties dominated, forcing the model to increase market weight temporarily.</a:t>
            </a:r>
          </a:p>
        </p:txBody>
      </p:sp>
      <p:sp>
        <p:nvSpPr>
          <p:cNvPr id="11" name="TextBox 10"/>
          <p:cNvSpPr txBox="1"/>
          <p:nvPr/>
        </p:nvSpPr>
        <p:spPr>
          <a:xfrm>
            <a:off x="8961120" y="3358067"/>
            <a:ext cx="5394960" cy="338554"/>
          </a:xfrm>
          <a:prstGeom prst="rect">
            <a:avLst/>
          </a:prstGeom>
          <a:noFill/>
        </p:spPr>
        <p:txBody>
          <a:bodyPr wrap="square">
            <a:spAutoFit/>
          </a:bodyPr>
          <a:lstStyle/>
          <a:p>
            <a:pPr algn="l"/>
            <a:r>
              <a:rPr sz="1600" b="1">
                <a:solidFill>
                  <a:srgbClr val="0066CC"/>
                </a:solidFill>
                <a:latin typeface="Calibri" panose="020F0502020204030204" pitchFamily="34" charset="0"/>
                <a:cs typeface="Calibri" panose="020F0502020204030204" pitchFamily="34" charset="0"/>
              </a:rPr>
              <a:t>▸  Mean return (reward) component</a:t>
            </a:r>
          </a:p>
        </p:txBody>
      </p:sp>
      <p:sp>
        <p:nvSpPr>
          <p:cNvPr id="12" name="TextBox 11"/>
          <p:cNvSpPr txBox="1"/>
          <p:nvPr/>
        </p:nvSpPr>
        <p:spPr>
          <a:xfrm>
            <a:off x="9235440" y="3668963"/>
            <a:ext cx="5120640" cy="738664"/>
          </a:xfrm>
          <a:prstGeom prst="rect">
            <a:avLst/>
          </a:prstGeom>
          <a:noFill/>
        </p:spPr>
        <p:txBody>
          <a:bodyPr wrap="square">
            <a:spAutoFit/>
          </a:bodyPr>
          <a:lstStyle/>
          <a:p>
            <a:pPr algn="l"/>
            <a:r>
              <a:rPr sz="1400" b="0">
                <a:solidFill>
                  <a:srgbClr val="333333"/>
                </a:solidFill>
                <a:latin typeface="Calibri" panose="020F0502020204030204" pitchFamily="34" charset="0"/>
                <a:cs typeface="Calibri" panose="020F0502020204030204" pitchFamily="34" charset="0"/>
              </a:rPr>
              <a:t>The blue reward signal is consistently positive and smooth, indicating the portfolio was profitable throughout the period. The objective is predominantly driven by risk penalties.</a:t>
            </a:r>
          </a:p>
        </p:txBody>
      </p:sp>
      <p:sp>
        <p:nvSpPr>
          <p:cNvPr id="13" name="TextBox 12"/>
          <p:cNvSpPr txBox="1"/>
          <p:nvPr/>
        </p:nvSpPr>
        <p:spPr>
          <a:xfrm>
            <a:off x="8961120" y="4400483"/>
            <a:ext cx="5394960" cy="338554"/>
          </a:xfrm>
          <a:prstGeom prst="rect">
            <a:avLst/>
          </a:prstGeom>
          <a:noFill/>
        </p:spPr>
        <p:txBody>
          <a:bodyPr wrap="square">
            <a:spAutoFit/>
          </a:bodyPr>
          <a:lstStyle/>
          <a:p>
            <a:pPr algn="l"/>
            <a:r>
              <a:rPr sz="1600" b="1">
                <a:solidFill>
                  <a:srgbClr val="0066CC"/>
                </a:solidFill>
                <a:latin typeface="Calibri" panose="020F0502020204030204" pitchFamily="34" charset="0"/>
                <a:cs typeface="Calibri" panose="020F0502020204030204" pitchFamily="34" charset="0"/>
              </a:rPr>
              <a:t>▸  Vol-excess penalty (yellow)</a:t>
            </a:r>
          </a:p>
        </p:txBody>
      </p:sp>
      <p:sp>
        <p:nvSpPr>
          <p:cNvPr id="14" name="TextBox 13"/>
          <p:cNvSpPr txBox="1"/>
          <p:nvPr/>
        </p:nvSpPr>
        <p:spPr>
          <a:xfrm>
            <a:off x="9235440" y="4711379"/>
            <a:ext cx="5120640" cy="738664"/>
          </a:xfrm>
          <a:prstGeom prst="rect">
            <a:avLst/>
          </a:prstGeom>
          <a:noFill/>
        </p:spPr>
        <p:txBody>
          <a:bodyPr wrap="square">
            <a:spAutoFit/>
          </a:bodyPr>
          <a:lstStyle/>
          <a:p>
            <a:pPr algn="l"/>
            <a:r>
              <a:rPr sz="1400" b="0">
                <a:solidFill>
                  <a:srgbClr val="333333"/>
                </a:solidFill>
                <a:latin typeface="Calibri" panose="020F0502020204030204" pitchFamily="34" charset="0"/>
                <a:cs typeface="Calibri" panose="020F0502020204030204" pitchFamily="34" charset="0"/>
              </a:rPr>
              <a:t>Activates in Nov–Dec when the post-election IPO rally pushed annualised vol above the 25% target. The model responds by trimming IPO weight — visible as a plateau in the returns curve.</a:t>
            </a:r>
          </a:p>
        </p:txBody>
      </p:sp>
      <p:sp>
        <p:nvSpPr>
          <p:cNvPr id="15" name="TextBox 14"/>
          <p:cNvSpPr txBox="1"/>
          <p:nvPr/>
        </p:nvSpPr>
        <p:spPr>
          <a:xfrm>
            <a:off x="8961120" y="5442899"/>
            <a:ext cx="5394960" cy="338554"/>
          </a:xfrm>
          <a:prstGeom prst="rect">
            <a:avLst/>
          </a:prstGeom>
          <a:noFill/>
        </p:spPr>
        <p:txBody>
          <a:bodyPr wrap="square">
            <a:spAutoFit/>
          </a:bodyPr>
          <a:lstStyle/>
          <a:p>
            <a:pPr algn="l"/>
            <a:r>
              <a:rPr sz="1600" b="1">
                <a:solidFill>
                  <a:srgbClr val="0066CC"/>
                </a:solidFill>
                <a:latin typeface="Calibri" panose="020F0502020204030204" pitchFamily="34" charset="0"/>
                <a:cs typeface="Calibri" panose="020F0502020204030204" pitchFamily="34" charset="0"/>
              </a:rPr>
              <a:t>▸  CVaR penalty (pink)</a:t>
            </a:r>
          </a:p>
        </p:txBody>
      </p:sp>
      <p:sp>
        <p:nvSpPr>
          <p:cNvPr id="16" name="TextBox 15"/>
          <p:cNvSpPr txBox="1"/>
          <p:nvPr/>
        </p:nvSpPr>
        <p:spPr>
          <a:xfrm>
            <a:off x="9235440" y="5753795"/>
            <a:ext cx="5120640" cy="738664"/>
          </a:xfrm>
          <a:prstGeom prst="rect">
            <a:avLst/>
          </a:prstGeom>
          <a:noFill/>
        </p:spPr>
        <p:txBody>
          <a:bodyPr wrap="square">
            <a:spAutoFit/>
          </a:bodyPr>
          <a:lstStyle/>
          <a:p>
            <a:pPr algn="l"/>
            <a:r>
              <a:rPr sz="1400" b="0">
                <a:solidFill>
                  <a:srgbClr val="333333"/>
                </a:solidFill>
                <a:latin typeface="Calibri" panose="020F0502020204030204" pitchFamily="34" charset="0"/>
                <a:cs typeface="Calibri" panose="020F0502020204030204" pitchFamily="34" charset="0"/>
              </a:rPr>
              <a:t>Elevated during Aug carry-trade unwind. Soft-sorted CVaR captures tail risk in real-time, though the approximation temperature (0.1) is untuned — a known limitation.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5528" y="320040"/>
            <a:ext cx="13039344" cy="502920"/>
          </a:xfrm>
          <a:prstGeom prst="rect">
            <a:avLst/>
          </a:prstGeom>
          <a:noFill/>
        </p:spPr>
        <p:txBody>
          <a:bodyPr wrap="square">
            <a:spAutoFit/>
          </a:bodyPr>
          <a:lstStyle/>
          <a:p>
            <a:pPr algn="l"/>
            <a:r>
              <a:rPr sz="2800" b="1">
                <a:solidFill>
                  <a:srgbClr val="0066CC"/>
                </a:solidFill>
              </a:rPr>
              <a:t>Validation Period: Portfolio Variance</a:t>
            </a:r>
          </a:p>
        </p:txBody>
      </p:sp>
      <p:sp>
        <p:nvSpPr>
          <p:cNvPr id="3" name="Rectangle 2"/>
          <p:cNvSpPr/>
          <p:nvPr/>
        </p:nvSpPr>
        <p:spPr>
          <a:xfrm>
            <a:off x="795528" y="896112"/>
            <a:ext cx="13039344"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664440" y="7662672"/>
            <a:ext cx="2029968" cy="502920"/>
          </a:xfrm>
          <a:prstGeom prst="rect">
            <a:avLst/>
          </a:prstGeom>
          <a:noFill/>
        </p:spPr>
        <p:txBody>
          <a:bodyPr wrap="square">
            <a:spAutoFit/>
          </a:bodyPr>
          <a:lstStyle/>
          <a:p>
            <a:pPr algn="ctr"/>
            <a:r>
              <a:rPr sz="900" b="0">
                <a:solidFill>
                  <a:srgbClr val="FFFFFF"/>
                </a:solidFill>
              </a:rPr>
              <a:t>STAT 4830 — Spring 2026</a:t>
            </a:r>
          </a:p>
        </p:txBody>
      </p:sp>
      <p:pic>
        <p:nvPicPr>
          <p:cNvPr id="6" name="Picture 5" descr="validation_variance.png"/>
          <p:cNvPicPr>
            <a:picLocks noChangeAspect="1"/>
          </p:cNvPicPr>
          <p:nvPr/>
        </p:nvPicPr>
        <p:blipFill>
          <a:blip r:embed="rId2"/>
          <a:stretch>
            <a:fillRect/>
          </a:stretch>
        </p:blipFill>
        <p:spPr>
          <a:xfrm>
            <a:off x="365760" y="1005840"/>
            <a:ext cx="8412480" cy="5672051"/>
          </a:xfrm>
          <a:prstGeom prst="rect">
            <a:avLst/>
          </a:prstGeom>
        </p:spPr>
      </p:pic>
      <p:sp>
        <p:nvSpPr>
          <p:cNvPr id="7" name="TextBox 6"/>
          <p:cNvSpPr txBox="1"/>
          <p:nvPr/>
        </p:nvSpPr>
        <p:spPr>
          <a:xfrm>
            <a:off x="8961120" y="1051560"/>
            <a:ext cx="5394960" cy="338554"/>
          </a:xfrm>
          <a:prstGeom prst="rect">
            <a:avLst/>
          </a:prstGeom>
          <a:noFill/>
        </p:spPr>
        <p:txBody>
          <a:bodyPr wrap="square">
            <a:spAutoFit/>
          </a:bodyPr>
          <a:lstStyle/>
          <a:p>
            <a:pPr algn="l"/>
            <a:r>
              <a:rPr sz="1600" b="1" dirty="0">
                <a:solidFill>
                  <a:srgbClr val="0066CC"/>
                </a:solidFill>
              </a:rPr>
              <a:t>▸  Model variance vs target (6.25%)</a:t>
            </a:r>
          </a:p>
        </p:txBody>
      </p:sp>
      <p:sp>
        <p:nvSpPr>
          <p:cNvPr id="8" name="TextBox 7"/>
          <p:cNvSpPr txBox="1"/>
          <p:nvPr/>
        </p:nvSpPr>
        <p:spPr>
          <a:xfrm>
            <a:off x="9235440" y="1362456"/>
            <a:ext cx="5120640" cy="738664"/>
          </a:xfrm>
          <a:prstGeom prst="rect">
            <a:avLst/>
          </a:prstGeom>
          <a:noFill/>
        </p:spPr>
        <p:txBody>
          <a:bodyPr wrap="square">
            <a:spAutoFit/>
          </a:bodyPr>
          <a:lstStyle/>
          <a:p>
            <a:pPr algn="l"/>
            <a:r>
              <a:rPr sz="1400" b="0">
                <a:solidFill>
                  <a:srgbClr val="333333"/>
                </a:solidFill>
              </a:rPr>
              <a:t>The model (blue) stays near the annualised variance target (red dotted, 6.25% = 25% vol²) for most of the year. The vol-excess penalty is effective as a soft constraint.</a:t>
            </a:r>
          </a:p>
        </p:txBody>
      </p:sp>
      <p:sp>
        <p:nvSpPr>
          <p:cNvPr id="9" name="TextBox 8"/>
          <p:cNvSpPr txBox="1"/>
          <p:nvPr/>
        </p:nvSpPr>
        <p:spPr>
          <a:xfrm>
            <a:off x="8961120" y="2093976"/>
            <a:ext cx="5394960" cy="338554"/>
          </a:xfrm>
          <a:prstGeom prst="rect">
            <a:avLst/>
          </a:prstGeom>
          <a:noFill/>
        </p:spPr>
        <p:txBody>
          <a:bodyPr wrap="square">
            <a:spAutoFit/>
          </a:bodyPr>
          <a:lstStyle/>
          <a:p>
            <a:pPr algn="l"/>
            <a:r>
              <a:rPr sz="1600" b="1">
                <a:solidFill>
                  <a:srgbClr val="0066CC"/>
                </a:solidFill>
              </a:rPr>
              <a:t>▸  Early-period spike (Feb–Mar 2024)</a:t>
            </a:r>
          </a:p>
        </p:txBody>
      </p:sp>
      <p:sp>
        <p:nvSpPr>
          <p:cNvPr id="10" name="TextBox 9"/>
          <p:cNvSpPr txBox="1"/>
          <p:nvPr/>
        </p:nvSpPr>
        <p:spPr>
          <a:xfrm>
            <a:off x="9235440" y="2404872"/>
            <a:ext cx="5120640" cy="738664"/>
          </a:xfrm>
          <a:prstGeom prst="rect">
            <a:avLst/>
          </a:prstGeom>
          <a:noFill/>
        </p:spPr>
        <p:txBody>
          <a:bodyPr wrap="square">
            <a:spAutoFit/>
          </a:bodyPr>
          <a:lstStyle/>
          <a:p>
            <a:pPr algn="l"/>
            <a:r>
              <a:rPr sz="1400" b="0">
                <a:solidFill>
                  <a:srgbClr val="333333"/>
                </a:solidFill>
              </a:rPr>
              <a:t>Model variance spikes to ~70% briefly before converging. This corresponds to a period of high IPO index volatility where the 21-day rolling window picks up outlier returns.</a:t>
            </a:r>
          </a:p>
        </p:txBody>
      </p:sp>
      <p:sp>
        <p:nvSpPr>
          <p:cNvPr id="11" name="TextBox 10"/>
          <p:cNvSpPr txBox="1"/>
          <p:nvPr/>
        </p:nvSpPr>
        <p:spPr>
          <a:xfrm>
            <a:off x="8961120" y="3136392"/>
            <a:ext cx="5394960" cy="338554"/>
          </a:xfrm>
          <a:prstGeom prst="rect">
            <a:avLst/>
          </a:prstGeom>
          <a:noFill/>
        </p:spPr>
        <p:txBody>
          <a:bodyPr wrap="square">
            <a:spAutoFit/>
          </a:bodyPr>
          <a:lstStyle/>
          <a:p>
            <a:pPr algn="l"/>
            <a:r>
              <a:rPr sz="1600" b="1">
                <a:solidFill>
                  <a:srgbClr val="0066CC"/>
                </a:solidFill>
              </a:rPr>
              <a:t>▸  IPO-only (purple) far exceeds target</a:t>
            </a:r>
          </a:p>
        </p:txBody>
      </p:sp>
      <p:sp>
        <p:nvSpPr>
          <p:cNvPr id="12" name="TextBox 11"/>
          <p:cNvSpPr txBox="1"/>
          <p:nvPr/>
        </p:nvSpPr>
        <p:spPr>
          <a:xfrm>
            <a:off x="9235440" y="3447288"/>
            <a:ext cx="5120640" cy="738664"/>
          </a:xfrm>
          <a:prstGeom prst="rect">
            <a:avLst/>
          </a:prstGeom>
          <a:noFill/>
        </p:spPr>
        <p:txBody>
          <a:bodyPr wrap="square">
            <a:spAutoFit/>
          </a:bodyPr>
          <a:lstStyle/>
          <a:p>
            <a:pPr algn="l"/>
            <a:r>
              <a:rPr sz="1400" b="0">
                <a:solidFill>
                  <a:srgbClr val="333333"/>
                </a:solidFill>
              </a:rPr>
              <a:t>IPO-only annualised variance reaches 300%+ in early periods. The model's risk control is the primary value-add: same IPO exposure with 8–10× lower variance.</a:t>
            </a:r>
          </a:p>
        </p:txBody>
      </p:sp>
      <p:sp>
        <p:nvSpPr>
          <p:cNvPr id="13" name="TextBox 12"/>
          <p:cNvSpPr txBox="1"/>
          <p:nvPr/>
        </p:nvSpPr>
        <p:spPr>
          <a:xfrm>
            <a:off x="8961120" y="4178808"/>
            <a:ext cx="5394960" cy="338554"/>
          </a:xfrm>
          <a:prstGeom prst="rect">
            <a:avLst/>
          </a:prstGeom>
          <a:noFill/>
        </p:spPr>
        <p:txBody>
          <a:bodyPr wrap="square">
            <a:spAutoFit/>
          </a:bodyPr>
          <a:lstStyle/>
          <a:p>
            <a:pPr algn="l"/>
            <a:r>
              <a:rPr sz="1600" b="1">
                <a:solidFill>
                  <a:srgbClr val="0066CC"/>
                </a:solidFill>
              </a:rPr>
              <a:t>▸  Aug 2024: Minimal model variance spike</a:t>
            </a:r>
          </a:p>
        </p:txBody>
      </p:sp>
      <p:sp>
        <p:nvSpPr>
          <p:cNvPr id="14" name="TextBox 13"/>
          <p:cNvSpPr txBox="1"/>
          <p:nvPr/>
        </p:nvSpPr>
        <p:spPr>
          <a:xfrm>
            <a:off x="9235440" y="4489704"/>
            <a:ext cx="5120640" cy="738664"/>
          </a:xfrm>
          <a:prstGeom prst="rect">
            <a:avLst/>
          </a:prstGeom>
          <a:noFill/>
        </p:spPr>
        <p:txBody>
          <a:bodyPr wrap="square">
            <a:spAutoFit/>
          </a:bodyPr>
          <a:lstStyle/>
          <a:p>
            <a:pPr algn="l"/>
            <a:r>
              <a:rPr sz="1400" b="0">
                <a:solidFill>
                  <a:srgbClr val="333333"/>
                </a:solidFill>
              </a:rPr>
              <a:t>Despite the Aug VIX-65 carry-trade event, the model's variance barely moves — because weights are near-static and the ~54% market component dampens the IPO shock.</a:t>
            </a:r>
          </a:p>
        </p:txBody>
      </p:sp>
      <p:sp>
        <p:nvSpPr>
          <p:cNvPr id="15" name="TextBox 14"/>
          <p:cNvSpPr txBox="1"/>
          <p:nvPr/>
        </p:nvSpPr>
        <p:spPr>
          <a:xfrm>
            <a:off x="8961120" y="5221224"/>
            <a:ext cx="5394960" cy="338554"/>
          </a:xfrm>
          <a:prstGeom prst="rect">
            <a:avLst/>
          </a:prstGeom>
          <a:noFill/>
        </p:spPr>
        <p:txBody>
          <a:bodyPr wrap="square">
            <a:spAutoFit/>
          </a:bodyPr>
          <a:lstStyle/>
          <a:p>
            <a:pPr algn="l"/>
            <a:r>
              <a:rPr sz="1600" b="1">
                <a:solidFill>
                  <a:srgbClr val="0066CC"/>
                </a:solidFill>
              </a:rPr>
              <a:t>▸  Nov–Dec 2024: Second spike</a:t>
            </a:r>
          </a:p>
        </p:txBody>
      </p:sp>
      <p:sp>
        <p:nvSpPr>
          <p:cNvPr id="16" name="TextBox 15"/>
          <p:cNvSpPr txBox="1"/>
          <p:nvPr/>
        </p:nvSpPr>
        <p:spPr>
          <a:xfrm>
            <a:off x="9235440" y="5532120"/>
            <a:ext cx="5120640" cy="738664"/>
          </a:xfrm>
          <a:prstGeom prst="rect">
            <a:avLst/>
          </a:prstGeom>
          <a:noFill/>
        </p:spPr>
        <p:txBody>
          <a:bodyPr wrap="square">
            <a:spAutoFit/>
          </a:bodyPr>
          <a:lstStyle/>
          <a:p>
            <a:pPr algn="l"/>
            <a:r>
              <a:rPr sz="1400" b="0" dirty="0">
                <a:solidFill>
                  <a:srgbClr val="333333"/>
                </a:solidFill>
              </a:rPr>
              <a:t>Post-election IPO surge caused a brief variance spike. The vol-excess penalty activates (visible in objective plot) and brings variance back toward target by year-end.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5528" y="320040"/>
            <a:ext cx="13039344" cy="502920"/>
          </a:xfrm>
          <a:prstGeom prst="rect">
            <a:avLst/>
          </a:prstGeom>
          <a:noFill/>
        </p:spPr>
        <p:txBody>
          <a:bodyPr wrap="square">
            <a:spAutoFit/>
          </a:bodyPr>
          <a:lstStyle/>
          <a:p>
            <a:pPr algn="l"/>
            <a:r>
              <a:rPr sz="2800" b="1">
                <a:solidFill>
                  <a:srgbClr val="0066CC"/>
                </a:solidFill>
              </a:rPr>
              <a:t>Failure Mode Analysis</a:t>
            </a:r>
          </a:p>
        </p:txBody>
      </p:sp>
      <p:sp>
        <p:nvSpPr>
          <p:cNvPr id="3" name="Rectangle 2"/>
          <p:cNvSpPr/>
          <p:nvPr/>
        </p:nvSpPr>
        <p:spPr>
          <a:xfrm>
            <a:off x="795528" y="896112"/>
            <a:ext cx="13039344"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Rectangle 3"/>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
        <p:nvSpPr>
          <p:cNvPr id="6" name="Rectangle 5"/>
          <p:cNvSpPr/>
          <p:nvPr/>
        </p:nvSpPr>
        <p:spPr>
          <a:xfrm>
            <a:off x="457200" y="1097280"/>
            <a:ext cx="621792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594360" y="1188720"/>
            <a:ext cx="5943600" cy="369332"/>
          </a:xfrm>
          <a:prstGeom prst="rect">
            <a:avLst/>
          </a:prstGeom>
          <a:noFill/>
        </p:spPr>
        <p:txBody>
          <a:bodyPr wrap="square">
            <a:spAutoFit/>
          </a:bodyPr>
          <a:lstStyle/>
          <a:p>
            <a:pPr algn="l"/>
            <a:r>
              <a:rPr b="1">
                <a:solidFill>
                  <a:srgbClr val="0066CC"/>
                </a:solidFill>
              </a:rPr>
              <a:t>Static Allocation Collapse (Root Cause)</a:t>
            </a:r>
          </a:p>
        </p:txBody>
      </p:sp>
      <p:sp>
        <p:nvSpPr>
          <p:cNvPr id="8" name="TextBox 7"/>
          <p:cNvSpPr txBox="1"/>
          <p:nvPr/>
        </p:nvSpPr>
        <p:spPr>
          <a:xfrm>
            <a:off x="594360" y="1536192"/>
            <a:ext cx="5943600" cy="1077218"/>
          </a:xfrm>
          <a:prstGeom prst="rect">
            <a:avLst/>
          </a:prstGeom>
          <a:noFill/>
        </p:spPr>
        <p:txBody>
          <a:bodyPr wrap="square">
            <a:spAutoFit/>
          </a:bodyPr>
          <a:lstStyle/>
          <a:p>
            <a:pPr algn="l"/>
            <a:r>
              <a:rPr sz="1600" b="0" dirty="0" err="1">
                <a:solidFill>
                  <a:srgbClr val="333333"/>
                </a:solidFill>
              </a:rPr>
              <a:t>λ_path</a:t>
            </a:r>
            <a:r>
              <a:rPr sz="1600" b="0" dirty="0">
                <a:solidFill>
                  <a:srgbClr val="333333"/>
                </a:solidFill>
              </a:rPr>
              <a:t>=0.01 &amp; </a:t>
            </a:r>
            <a:r>
              <a:rPr sz="1600" b="0" dirty="0" err="1">
                <a:solidFill>
                  <a:srgbClr val="333333"/>
                </a:solidFill>
              </a:rPr>
              <a:t>λ_turnover</a:t>
            </a:r>
            <a:r>
              <a:rPr sz="1600" b="0" dirty="0">
                <a:solidFill>
                  <a:srgbClr val="333333"/>
                </a:solidFill>
              </a:rPr>
              <a:t>=0.0025 penali</a:t>
            </a:r>
            <a:r>
              <a:rPr lang="en-US" sz="1600" b="0" dirty="0">
                <a:solidFill>
                  <a:srgbClr val="333333"/>
                </a:solidFill>
              </a:rPr>
              <a:t>z</a:t>
            </a:r>
            <a:r>
              <a:rPr sz="1600" b="0" dirty="0">
                <a:solidFill>
                  <a:srgbClr val="333333"/>
                </a:solidFill>
              </a:rPr>
              <a:t>ed any weight change. The GRU minimi</a:t>
            </a:r>
            <a:r>
              <a:rPr lang="en-US" sz="1600" b="0" dirty="0">
                <a:solidFill>
                  <a:srgbClr val="333333"/>
                </a:solidFill>
              </a:rPr>
              <a:t>z</a:t>
            </a:r>
            <a:r>
              <a:rPr sz="1600" b="0" dirty="0">
                <a:solidFill>
                  <a:srgbClr val="333333"/>
                </a:solidFill>
              </a:rPr>
              <a:t>ed loss by outputting a near-constant 68/32 split — avg daily turnover 0.0031, identical weights every day. The model learned a static policy, not a dynamic one.</a:t>
            </a:r>
          </a:p>
        </p:txBody>
      </p:sp>
      <p:sp>
        <p:nvSpPr>
          <p:cNvPr id="9" name="Rectangle 8"/>
          <p:cNvSpPr/>
          <p:nvPr/>
        </p:nvSpPr>
        <p:spPr>
          <a:xfrm>
            <a:off x="6949440" y="1097280"/>
            <a:ext cx="621792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7086600" y="1188720"/>
            <a:ext cx="5943600" cy="369332"/>
          </a:xfrm>
          <a:prstGeom prst="rect">
            <a:avLst/>
          </a:prstGeom>
          <a:noFill/>
        </p:spPr>
        <p:txBody>
          <a:bodyPr wrap="square">
            <a:spAutoFit/>
          </a:bodyPr>
          <a:lstStyle/>
          <a:p>
            <a:pPr algn="l"/>
            <a:r>
              <a:rPr b="1">
                <a:solidFill>
                  <a:srgbClr val="0066CC"/>
                </a:solidFill>
              </a:rPr>
              <a:t>Regularisation Dominates Return Signal</a:t>
            </a:r>
          </a:p>
        </p:txBody>
      </p:sp>
      <p:sp>
        <p:nvSpPr>
          <p:cNvPr id="11" name="TextBox 10"/>
          <p:cNvSpPr txBox="1"/>
          <p:nvPr/>
        </p:nvSpPr>
        <p:spPr>
          <a:xfrm>
            <a:off x="7086600" y="1536192"/>
            <a:ext cx="5943600" cy="1077218"/>
          </a:xfrm>
          <a:prstGeom prst="rect">
            <a:avLst/>
          </a:prstGeom>
          <a:noFill/>
        </p:spPr>
        <p:txBody>
          <a:bodyPr wrap="square">
            <a:spAutoFit/>
          </a:bodyPr>
          <a:lstStyle/>
          <a:p>
            <a:pPr algn="l"/>
            <a:r>
              <a:rPr sz="1600" b="0">
                <a:solidFill>
                  <a:srgbClr val="333333"/>
                </a:solidFill>
              </a:rPr>
              <a:t>With batch_size=32, gradient noise was high. The path/turnover terms had smooth, easy-to-minimise gradients while the return signal was noisy. Optimizer converged to the trivial fixed-weight solution in &lt;5 epochs.</a:t>
            </a:r>
          </a:p>
        </p:txBody>
      </p:sp>
      <p:sp>
        <p:nvSpPr>
          <p:cNvPr id="12" name="Rectangle 11"/>
          <p:cNvSpPr/>
          <p:nvPr/>
        </p:nvSpPr>
        <p:spPr>
          <a:xfrm>
            <a:off x="457200" y="3246120"/>
            <a:ext cx="621792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p:cNvSpPr txBox="1"/>
          <p:nvPr/>
        </p:nvSpPr>
        <p:spPr>
          <a:xfrm>
            <a:off x="594360" y="3337560"/>
            <a:ext cx="5943600" cy="369332"/>
          </a:xfrm>
          <a:prstGeom prst="rect">
            <a:avLst/>
          </a:prstGeom>
          <a:noFill/>
        </p:spPr>
        <p:txBody>
          <a:bodyPr wrap="square">
            <a:spAutoFit/>
          </a:bodyPr>
          <a:lstStyle/>
          <a:p>
            <a:pPr algn="l"/>
            <a:r>
              <a:rPr b="1">
                <a:solidFill>
                  <a:srgbClr val="0066CC"/>
                </a:solidFill>
              </a:rPr>
              <a:t>Validation Leakage via Hyperparameter Search</a:t>
            </a:r>
          </a:p>
        </p:txBody>
      </p:sp>
      <p:sp>
        <p:nvSpPr>
          <p:cNvPr id="14" name="TextBox 13"/>
          <p:cNvSpPr txBox="1"/>
          <p:nvPr/>
        </p:nvSpPr>
        <p:spPr>
          <a:xfrm>
            <a:off x="594360" y="3685032"/>
            <a:ext cx="5943600" cy="830997"/>
          </a:xfrm>
          <a:prstGeom prst="rect">
            <a:avLst/>
          </a:prstGeom>
          <a:noFill/>
        </p:spPr>
        <p:txBody>
          <a:bodyPr wrap="square">
            <a:spAutoFit/>
          </a:bodyPr>
          <a:lstStyle/>
          <a:p>
            <a:pPr algn="l"/>
            <a:r>
              <a:rPr sz="1600" b="0">
                <a:solidFill>
                  <a:srgbClr val="333333"/>
                </a:solidFill>
              </a:rPr>
              <a:t>288-config grid search selected the config maximising validation Sharpe. The reported Sharpe (3.27 → 3.60) is optimistic. A true held-out test set is needed to measure generalisation honestly.</a:t>
            </a:r>
          </a:p>
        </p:txBody>
      </p:sp>
      <p:sp>
        <p:nvSpPr>
          <p:cNvPr id="15" name="Rectangle 14"/>
          <p:cNvSpPr/>
          <p:nvPr/>
        </p:nvSpPr>
        <p:spPr>
          <a:xfrm>
            <a:off x="6949440" y="3246120"/>
            <a:ext cx="621792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p:cNvSpPr txBox="1"/>
          <p:nvPr/>
        </p:nvSpPr>
        <p:spPr>
          <a:xfrm>
            <a:off x="7086600" y="3337560"/>
            <a:ext cx="5943600" cy="369332"/>
          </a:xfrm>
          <a:prstGeom prst="rect">
            <a:avLst/>
          </a:prstGeom>
          <a:noFill/>
        </p:spPr>
        <p:txBody>
          <a:bodyPr wrap="square">
            <a:spAutoFit/>
          </a:bodyPr>
          <a:lstStyle/>
          <a:p>
            <a:pPr algn="l"/>
            <a:r>
              <a:rPr b="1">
                <a:solidFill>
                  <a:srgbClr val="0066CC"/>
                </a:solidFill>
              </a:rPr>
              <a:t>Survivorship Bias in IPO Index</a:t>
            </a:r>
          </a:p>
        </p:txBody>
      </p:sp>
      <p:sp>
        <p:nvSpPr>
          <p:cNvPr id="17" name="TextBox 16"/>
          <p:cNvSpPr txBox="1"/>
          <p:nvPr/>
        </p:nvSpPr>
        <p:spPr>
          <a:xfrm>
            <a:off x="7086600" y="3685032"/>
            <a:ext cx="5943600" cy="830997"/>
          </a:xfrm>
          <a:prstGeom prst="rect">
            <a:avLst/>
          </a:prstGeom>
          <a:noFill/>
        </p:spPr>
        <p:txBody>
          <a:bodyPr wrap="square">
            <a:spAutoFit/>
          </a:bodyPr>
          <a:lstStyle/>
          <a:p>
            <a:pPr algn="l"/>
            <a:r>
              <a:rPr sz="1600" b="0">
                <a:solidFill>
                  <a:srgbClr val="333333"/>
                </a:solidFill>
              </a:rPr>
              <a:t>The IPO index includes only tickers with price data in CRSP. Failed / delisted IPOs within the holding window are systematically excluded, inflating the IPO index return (192% in 2024).</a:t>
            </a:r>
          </a:p>
        </p:txBody>
      </p:sp>
      <p:sp>
        <p:nvSpPr>
          <p:cNvPr id="18" name="Rectangle 17"/>
          <p:cNvSpPr/>
          <p:nvPr/>
        </p:nvSpPr>
        <p:spPr>
          <a:xfrm>
            <a:off x="457200" y="5394960"/>
            <a:ext cx="621792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5486400"/>
            <a:ext cx="5943600" cy="369332"/>
          </a:xfrm>
          <a:prstGeom prst="rect">
            <a:avLst/>
          </a:prstGeom>
          <a:noFill/>
        </p:spPr>
        <p:txBody>
          <a:bodyPr wrap="square">
            <a:spAutoFit/>
          </a:bodyPr>
          <a:lstStyle/>
          <a:p>
            <a:pPr algn="l"/>
            <a:r>
              <a:rPr b="1">
                <a:solidFill>
                  <a:srgbClr val="0066CC"/>
                </a:solidFill>
              </a:rPr>
              <a:t>Validation Period Regime Risk</a:t>
            </a:r>
          </a:p>
        </p:txBody>
      </p:sp>
      <p:sp>
        <p:nvSpPr>
          <p:cNvPr id="20" name="TextBox 19"/>
          <p:cNvSpPr txBox="1"/>
          <p:nvPr/>
        </p:nvSpPr>
        <p:spPr>
          <a:xfrm>
            <a:off x="594360" y="5833872"/>
            <a:ext cx="5943600" cy="1077218"/>
          </a:xfrm>
          <a:prstGeom prst="rect">
            <a:avLst/>
          </a:prstGeom>
          <a:noFill/>
        </p:spPr>
        <p:txBody>
          <a:bodyPr wrap="square">
            <a:spAutoFit/>
          </a:bodyPr>
          <a:lstStyle/>
          <a:p>
            <a:pPr algn="l"/>
            <a:r>
              <a:rPr sz="1600" b="0">
                <a:solidFill>
                  <a:srgbClr val="333333"/>
                </a:solidFill>
              </a:rPr>
              <a:t>Jan–Dec 2024 contained five distinct regime shifts (Apr sell-off, Aug VIX-65 carry unwind, Sep Fed cut, Nov election rally, Dec hawkish pivot). A static model cannot adapt; a dynamic model must learn these signals from 84-day windows.</a:t>
            </a:r>
          </a:p>
        </p:txBody>
      </p:sp>
      <p:sp>
        <p:nvSpPr>
          <p:cNvPr id="21" name="Rectangle 20"/>
          <p:cNvSpPr/>
          <p:nvPr/>
        </p:nvSpPr>
        <p:spPr>
          <a:xfrm>
            <a:off x="6949440" y="5394960"/>
            <a:ext cx="6217920" cy="2011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86600" y="5486400"/>
            <a:ext cx="5943600" cy="369332"/>
          </a:xfrm>
          <a:prstGeom prst="rect">
            <a:avLst/>
          </a:prstGeom>
          <a:noFill/>
        </p:spPr>
        <p:txBody>
          <a:bodyPr wrap="square">
            <a:spAutoFit/>
          </a:bodyPr>
          <a:lstStyle/>
          <a:p>
            <a:pPr algn="l"/>
            <a:r>
              <a:rPr b="1">
                <a:solidFill>
                  <a:srgbClr val="0066CC"/>
                </a:solidFill>
              </a:rPr>
              <a:t>Remaining Gap vs. Equal Weight (Post-Fix)</a:t>
            </a:r>
          </a:p>
        </p:txBody>
      </p:sp>
      <p:sp>
        <p:nvSpPr>
          <p:cNvPr id="23" name="TextBox 22"/>
          <p:cNvSpPr txBox="1"/>
          <p:nvPr/>
        </p:nvSpPr>
        <p:spPr>
          <a:xfrm>
            <a:off x="7086600" y="5833872"/>
            <a:ext cx="5943600" cy="1077218"/>
          </a:xfrm>
          <a:prstGeom prst="rect">
            <a:avLst/>
          </a:prstGeom>
          <a:noFill/>
        </p:spPr>
        <p:txBody>
          <a:bodyPr wrap="square">
            <a:spAutoFit/>
          </a:bodyPr>
          <a:lstStyle/>
          <a:p>
            <a:pPr algn="l"/>
            <a:r>
              <a:rPr sz="1600" b="0">
                <a:solidFill>
                  <a:srgbClr val="333333"/>
                </a:solidFill>
              </a:rPr>
              <a:t>After fixing λ_path=0.0001 &amp; λ_turnover=0.0, Sharpe improved to 3.60 but still trails equal-weight (3.65). The GRU has not yet learned to time the market. IPO weight rose to 46% but is still near-static; true dynamic allocation requires richer regime features.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34127"/>
            <a:ext cx="4990148" cy="623649"/>
          </a:xfrm>
          <a:prstGeom prst="rect">
            <a:avLst/>
          </a:prstGeom>
          <a:noFill/>
          <a:ln/>
        </p:spPr>
        <p:txBody>
          <a:bodyPr wrap="none" lIns="0" tIns="0" rIns="0" bIns="0" rtlCol="0" anchor="t"/>
          <a:lstStyle/>
          <a:p>
            <a:pPr marL="0" indent="0" algn="l">
              <a:lnSpc>
                <a:spcPts val="4900"/>
              </a:lnSpc>
              <a:buNone/>
            </a:pPr>
            <a:r>
              <a:rPr lang="en-US" sz="3900" b="1" dirty="0">
                <a:solidFill>
                  <a:srgbClr val="0066CC"/>
                </a:solidFill>
                <a:latin typeface="Calibri" panose="020F0502020204030204" pitchFamily="34" charset="0"/>
                <a:ea typeface="Petrona Bold" pitchFamily="34" charset="-122"/>
                <a:cs typeface="Calibri" panose="020F0502020204030204" pitchFamily="34" charset="0"/>
              </a:rPr>
              <a:t>Observations</a:t>
            </a:r>
            <a:endParaRPr lang="en-US" sz="3900" dirty="0">
              <a:latin typeface="Calibri" panose="020F0502020204030204" pitchFamily="34" charset="0"/>
              <a:cs typeface="Calibri" panose="020F0502020204030204" pitchFamily="34" charset="0"/>
            </a:endParaRPr>
          </a:p>
        </p:txBody>
      </p:sp>
      <p:sp>
        <p:nvSpPr>
          <p:cNvPr id="3" name="Shape 1"/>
          <p:cNvSpPr/>
          <p:nvPr/>
        </p:nvSpPr>
        <p:spPr>
          <a:xfrm>
            <a:off x="793790" y="1728162"/>
            <a:ext cx="408265" cy="408265"/>
          </a:xfrm>
          <a:prstGeom prst="roundRect">
            <a:avLst>
              <a:gd name="adj" fmla="val 18668"/>
            </a:avLst>
          </a:prstGeom>
          <a:solidFill>
            <a:srgbClr val="E0D7F4"/>
          </a:solidFill>
          <a:ln w="762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4" name="Text 2"/>
          <p:cNvSpPr/>
          <p:nvPr/>
        </p:nvSpPr>
        <p:spPr>
          <a:xfrm>
            <a:off x="1347192" y="1610320"/>
            <a:ext cx="3958590" cy="311944"/>
          </a:xfrm>
          <a:prstGeom prst="rect">
            <a:avLst/>
          </a:prstGeom>
          <a:noFill/>
          <a:ln/>
        </p:spPr>
        <p:txBody>
          <a:bodyPr wrap="none" lIns="0" tIns="0" rIns="0" bIns="0" rtlCol="0" anchor="t"/>
          <a:lstStyle/>
          <a:p>
            <a:pPr marL="0" indent="0" algn="l">
              <a:lnSpc>
                <a:spcPts val="2450"/>
              </a:lnSpc>
              <a:buNone/>
            </a:pPr>
            <a:r>
              <a:rPr lang="en-US" sz="1950" b="1" dirty="0">
                <a:solidFill>
                  <a:srgbClr val="0066CC"/>
                </a:solidFill>
                <a:latin typeface="Calibri" panose="020F0502020204030204" pitchFamily="34" charset="0"/>
                <a:ea typeface="Petrona Bold" pitchFamily="34" charset="-122"/>
                <a:cs typeface="Calibri" panose="020F0502020204030204" pitchFamily="34" charset="0"/>
              </a:rPr>
              <a:t>Valid simplex-constrained weights</a:t>
            </a:r>
            <a:endParaRPr lang="en-US" sz="1950" dirty="0">
              <a:latin typeface="Calibri" panose="020F0502020204030204" pitchFamily="34" charset="0"/>
              <a:cs typeface="Calibri" panose="020F0502020204030204" pitchFamily="34" charset="0"/>
            </a:endParaRPr>
          </a:p>
        </p:txBody>
      </p:sp>
      <p:sp>
        <p:nvSpPr>
          <p:cNvPr id="5" name="Text 3"/>
          <p:cNvSpPr/>
          <p:nvPr/>
        </p:nvSpPr>
        <p:spPr>
          <a:xfrm>
            <a:off x="1347192" y="2009299"/>
            <a:ext cx="1248941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Calibri" panose="020F0502020204030204" pitchFamily="34" charset="0"/>
                <a:ea typeface="Inter" pitchFamily="34" charset="-122"/>
                <a:cs typeface="Calibri" panose="020F0502020204030204" pitchFamily="34" charset="0"/>
              </a:rPr>
              <a:t>The model trains end-to-end and produces valid weights (69% market / 31% IPO average)</a:t>
            </a:r>
            <a:endParaRPr lang="en-US" sz="1400" dirty="0">
              <a:latin typeface="Calibri" panose="020F0502020204030204" pitchFamily="34" charset="0"/>
              <a:cs typeface="Calibri" panose="020F0502020204030204" pitchFamily="34" charset="0"/>
            </a:endParaRPr>
          </a:p>
        </p:txBody>
      </p:sp>
      <p:sp>
        <p:nvSpPr>
          <p:cNvPr id="6" name="Shape 4"/>
          <p:cNvSpPr/>
          <p:nvPr/>
        </p:nvSpPr>
        <p:spPr>
          <a:xfrm>
            <a:off x="793790" y="2740907"/>
            <a:ext cx="408265" cy="408265"/>
          </a:xfrm>
          <a:prstGeom prst="roundRect">
            <a:avLst>
              <a:gd name="adj" fmla="val 18668"/>
            </a:avLst>
          </a:prstGeom>
          <a:solidFill>
            <a:srgbClr val="E0D7F4"/>
          </a:solidFill>
          <a:ln w="762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7" name="Text 5"/>
          <p:cNvSpPr/>
          <p:nvPr/>
        </p:nvSpPr>
        <p:spPr>
          <a:xfrm>
            <a:off x="1347192" y="2623066"/>
            <a:ext cx="2495074" cy="311944"/>
          </a:xfrm>
          <a:prstGeom prst="rect">
            <a:avLst/>
          </a:prstGeom>
          <a:noFill/>
          <a:ln/>
        </p:spPr>
        <p:txBody>
          <a:bodyPr wrap="none" lIns="0" tIns="0" rIns="0" bIns="0" rtlCol="0" anchor="t"/>
          <a:lstStyle/>
          <a:p>
            <a:pPr marL="0" indent="0" algn="l">
              <a:lnSpc>
                <a:spcPts val="2450"/>
              </a:lnSpc>
              <a:buNone/>
            </a:pPr>
            <a:r>
              <a:rPr lang="en-US" sz="1950" b="1" dirty="0">
                <a:solidFill>
                  <a:srgbClr val="0066CC"/>
                </a:solidFill>
                <a:latin typeface="Calibri" panose="020F0502020204030204" pitchFamily="34" charset="0"/>
                <a:ea typeface="Petrona Bold" pitchFamily="34" charset="-122"/>
                <a:cs typeface="Calibri" panose="020F0502020204030204" pitchFamily="34" charset="0"/>
              </a:rPr>
              <a:t>Strong Sharpe ratio</a:t>
            </a:r>
            <a:endParaRPr lang="en-US" sz="1950" dirty="0">
              <a:latin typeface="Calibri" panose="020F0502020204030204" pitchFamily="34" charset="0"/>
              <a:cs typeface="Calibri" panose="020F0502020204030204" pitchFamily="34" charset="0"/>
            </a:endParaRPr>
          </a:p>
        </p:txBody>
      </p:sp>
      <p:sp>
        <p:nvSpPr>
          <p:cNvPr id="8" name="Text 6"/>
          <p:cNvSpPr/>
          <p:nvPr/>
        </p:nvSpPr>
        <p:spPr>
          <a:xfrm>
            <a:off x="1347192" y="3022044"/>
            <a:ext cx="1248941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Calibri" panose="020F0502020204030204" pitchFamily="34" charset="0"/>
                <a:ea typeface="Inter" pitchFamily="34" charset="-122"/>
                <a:cs typeface="Calibri" panose="020F0502020204030204" pitchFamily="34" charset="0"/>
              </a:rPr>
              <a:t>Sharpe of 3.27 is strong, but validation set was also used for hyperparameter selection — no configs were evaluated on truly unseen data</a:t>
            </a:r>
            <a:endParaRPr lang="en-US" sz="1400" dirty="0">
              <a:latin typeface="Calibri" panose="020F0502020204030204" pitchFamily="34" charset="0"/>
              <a:cs typeface="Calibri" panose="020F0502020204030204" pitchFamily="34" charset="0"/>
            </a:endParaRPr>
          </a:p>
        </p:txBody>
      </p:sp>
      <p:sp>
        <p:nvSpPr>
          <p:cNvPr id="9" name="Shape 7"/>
          <p:cNvSpPr/>
          <p:nvPr/>
        </p:nvSpPr>
        <p:spPr>
          <a:xfrm>
            <a:off x="793790" y="3753653"/>
            <a:ext cx="408265" cy="408265"/>
          </a:xfrm>
          <a:prstGeom prst="roundRect">
            <a:avLst>
              <a:gd name="adj" fmla="val 18668"/>
            </a:avLst>
          </a:prstGeom>
          <a:solidFill>
            <a:srgbClr val="E0D7F4"/>
          </a:solidFill>
          <a:ln w="762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0" name="Text 8"/>
          <p:cNvSpPr/>
          <p:nvPr/>
        </p:nvSpPr>
        <p:spPr>
          <a:xfrm>
            <a:off x="1347192" y="3635812"/>
            <a:ext cx="2936915" cy="311944"/>
          </a:xfrm>
          <a:prstGeom prst="rect">
            <a:avLst/>
          </a:prstGeom>
          <a:noFill/>
          <a:ln/>
        </p:spPr>
        <p:txBody>
          <a:bodyPr wrap="none" lIns="0" tIns="0" rIns="0" bIns="0" rtlCol="0" anchor="t"/>
          <a:lstStyle/>
          <a:p>
            <a:pPr marL="0" indent="0" algn="l">
              <a:lnSpc>
                <a:spcPts val="2450"/>
              </a:lnSpc>
              <a:buNone/>
            </a:pPr>
            <a:r>
              <a:rPr lang="en-US" sz="1950" b="1" dirty="0">
                <a:solidFill>
                  <a:srgbClr val="0066CC"/>
                </a:solidFill>
                <a:latin typeface="Calibri" panose="020F0502020204030204" pitchFamily="34" charset="0"/>
                <a:ea typeface="Petrona Bold" pitchFamily="34" charset="-122"/>
                <a:cs typeface="Calibri" panose="020F0502020204030204" pitchFamily="34" charset="0"/>
              </a:rPr>
              <a:t>Four informative features</a:t>
            </a:r>
            <a:endParaRPr lang="en-US" sz="1950" dirty="0">
              <a:latin typeface="Calibri" panose="020F0502020204030204" pitchFamily="34" charset="0"/>
              <a:cs typeface="Calibri" panose="020F0502020204030204" pitchFamily="34" charset="0"/>
            </a:endParaRPr>
          </a:p>
        </p:txBody>
      </p:sp>
      <p:sp>
        <p:nvSpPr>
          <p:cNvPr id="11" name="Text 9"/>
          <p:cNvSpPr/>
          <p:nvPr/>
        </p:nvSpPr>
        <p:spPr>
          <a:xfrm>
            <a:off x="1347192" y="4034790"/>
            <a:ext cx="1248941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Calibri" panose="020F0502020204030204" pitchFamily="34" charset="0"/>
                <a:ea typeface="Inter" pitchFamily="34" charset="-122"/>
                <a:cs typeface="Calibri" panose="020F0502020204030204" pitchFamily="34" charset="0"/>
              </a:rPr>
              <a:t>Real VIX replaced the constant 20.0 placeholder; the model now receives four informative features</a:t>
            </a:r>
            <a:endParaRPr lang="en-US" sz="1400" dirty="0">
              <a:latin typeface="Calibri" panose="020F0502020204030204" pitchFamily="34" charset="0"/>
              <a:cs typeface="Calibri" panose="020F0502020204030204" pitchFamily="34" charset="0"/>
            </a:endParaRPr>
          </a:p>
        </p:txBody>
      </p:sp>
      <p:sp>
        <p:nvSpPr>
          <p:cNvPr id="12" name="Shape 10"/>
          <p:cNvSpPr/>
          <p:nvPr/>
        </p:nvSpPr>
        <p:spPr>
          <a:xfrm>
            <a:off x="793790" y="4766399"/>
            <a:ext cx="408265" cy="408265"/>
          </a:xfrm>
          <a:prstGeom prst="roundRect">
            <a:avLst>
              <a:gd name="adj" fmla="val 18668"/>
            </a:avLst>
          </a:prstGeom>
          <a:solidFill>
            <a:srgbClr val="E0D7F4"/>
          </a:solidFill>
          <a:ln w="762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3" name="Text 11"/>
          <p:cNvSpPr/>
          <p:nvPr/>
        </p:nvSpPr>
        <p:spPr>
          <a:xfrm>
            <a:off x="1347192" y="4648557"/>
            <a:ext cx="3761542" cy="311944"/>
          </a:xfrm>
          <a:prstGeom prst="rect">
            <a:avLst/>
          </a:prstGeom>
          <a:noFill/>
          <a:ln/>
        </p:spPr>
        <p:txBody>
          <a:bodyPr wrap="none" lIns="0" tIns="0" rIns="0" bIns="0" rtlCol="0" anchor="t"/>
          <a:lstStyle/>
          <a:p>
            <a:pPr marL="0" indent="0" algn="l">
              <a:lnSpc>
                <a:spcPts val="2450"/>
              </a:lnSpc>
              <a:buNone/>
            </a:pPr>
            <a:r>
              <a:rPr lang="en-US" sz="1950" b="1" dirty="0">
                <a:solidFill>
                  <a:srgbClr val="0066CC"/>
                </a:solidFill>
                <a:latin typeface="Calibri" panose="020F0502020204030204" pitchFamily="34" charset="0"/>
                <a:ea typeface="Petrona Bold" pitchFamily="34" charset="-122"/>
                <a:cs typeface="Calibri" panose="020F0502020204030204" pitchFamily="34" charset="0"/>
              </a:rPr>
              <a:t>Improved Sharpe through tuning</a:t>
            </a:r>
            <a:endParaRPr lang="en-US" sz="1950" dirty="0">
              <a:latin typeface="Calibri" panose="020F0502020204030204" pitchFamily="34" charset="0"/>
              <a:cs typeface="Calibri" panose="020F0502020204030204" pitchFamily="34" charset="0"/>
            </a:endParaRPr>
          </a:p>
        </p:txBody>
      </p:sp>
      <p:sp>
        <p:nvSpPr>
          <p:cNvPr id="14" name="Text 12"/>
          <p:cNvSpPr/>
          <p:nvPr/>
        </p:nvSpPr>
        <p:spPr>
          <a:xfrm>
            <a:off x="1347192" y="5047536"/>
            <a:ext cx="1248941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Calibri" panose="020F0502020204030204" pitchFamily="34" charset="0"/>
                <a:ea typeface="Inter" pitchFamily="34" charset="-122"/>
                <a:cs typeface="Calibri" panose="020F0502020204030204" pitchFamily="34" charset="0"/>
              </a:rPr>
              <a:t>Turnover and path penalties were tuned (previously hardcoded), improving Sharpe from 3.07 → 3.27</a:t>
            </a:r>
            <a:endParaRPr lang="en-US" sz="1400" dirty="0">
              <a:latin typeface="Calibri" panose="020F0502020204030204" pitchFamily="34" charset="0"/>
              <a:cs typeface="Calibri" panose="020F0502020204030204" pitchFamily="34" charset="0"/>
            </a:endParaRPr>
          </a:p>
        </p:txBody>
      </p:sp>
      <p:sp>
        <p:nvSpPr>
          <p:cNvPr id="15" name="Shape 13"/>
          <p:cNvSpPr/>
          <p:nvPr/>
        </p:nvSpPr>
        <p:spPr>
          <a:xfrm>
            <a:off x="793790" y="5779144"/>
            <a:ext cx="408265" cy="408265"/>
          </a:xfrm>
          <a:prstGeom prst="roundRect">
            <a:avLst>
              <a:gd name="adj" fmla="val 18668"/>
            </a:avLst>
          </a:prstGeom>
          <a:solidFill>
            <a:srgbClr val="E0D7F4"/>
          </a:solidFill>
          <a:ln w="762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6" name="Text 14"/>
          <p:cNvSpPr/>
          <p:nvPr/>
        </p:nvSpPr>
        <p:spPr>
          <a:xfrm>
            <a:off x="1347192" y="5661303"/>
            <a:ext cx="2495074" cy="311944"/>
          </a:xfrm>
          <a:prstGeom prst="rect">
            <a:avLst/>
          </a:prstGeom>
          <a:noFill/>
          <a:ln/>
        </p:spPr>
        <p:txBody>
          <a:bodyPr wrap="none" lIns="0" tIns="0" rIns="0" bIns="0" rtlCol="0" anchor="t"/>
          <a:lstStyle/>
          <a:p>
            <a:pPr marL="0" indent="0" algn="l">
              <a:lnSpc>
                <a:spcPts val="2450"/>
              </a:lnSpc>
              <a:buNone/>
            </a:pPr>
            <a:r>
              <a:rPr lang="en-US" sz="1950" b="1" dirty="0">
                <a:solidFill>
                  <a:srgbClr val="0066CC"/>
                </a:solidFill>
                <a:latin typeface="Calibri" panose="020F0502020204030204" pitchFamily="34" charset="0"/>
                <a:ea typeface="Petrona Bold" pitchFamily="34" charset="-122"/>
                <a:cs typeface="Calibri" panose="020F0502020204030204" pitchFamily="34" charset="0"/>
              </a:rPr>
              <a:t>Quick convergence</a:t>
            </a:r>
            <a:endParaRPr lang="en-US" sz="1950" dirty="0">
              <a:latin typeface="Calibri" panose="020F0502020204030204" pitchFamily="34" charset="0"/>
              <a:cs typeface="Calibri" panose="020F0502020204030204" pitchFamily="34" charset="0"/>
            </a:endParaRPr>
          </a:p>
        </p:txBody>
      </p:sp>
      <p:sp>
        <p:nvSpPr>
          <p:cNvPr id="17" name="Text 15"/>
          <p:cNvSpPr/>
          <p:nvPr/>
        </p:nvSpPr>
        <p:spPr>
          <a:xfrm>
            <a:off x="1347192" y="6060281"/>
            <a:ext cx="12489418" cy="261223"/>
          </a:xfrm>
          <a:prstGeom prst="rect">
            <a:avLst/>
          </a:prstGeom>
          <a:noFill/>
          <a:ln/>
        </p:spPr>
        <p:txBody>
          <a:bodyPr wrap="none" lIns="0" tIns="0" rIns="0" bIns="0" rtlCol="0" anchor="t"/>
          <a:lstStyle/>
          <a:p>
            <a:pPr marL="0" indent="0" algn="l">
              <a:lnSpc>
                <a:spcPts val="2050"/>
              </a:lnSpc>
              <a:buNone/>
            </a:pPr>
            <a:r>
              <a:rPr lang="en-US" sz="1400" dirty="0">
                <a:solidFill>
                  <a:srgbClr val="272525"/>
                </a:solidFill>
                <a:latin typeface="Calibri" panose="020F0502020204030204" pitchFamily="34" charset="0"/>
                <a:ea typeface="Inter" pitchFamily="34" charset="-122"/>
                <a:cs typeface="Calibri" panose="020F0502020204030204" pitchFamily="34" charset="0"/>
              </a:rPr>
              <a:t>Training converges in ~4 effective epochs, suggesting the model saturates quickly on ~930 training samples</a:t>
            </a:r>
            <a:endParaRPr lang="en-US" sz="1400" dirty="0">
              <a:latin typeface="Calibri" panose="020F0502020204030204" pitchFamily="34" charset="0"/>
              <a:cs typeface="Calibri" panose="020F0502020204030204" pitchFamily="34" charset="0"/>
            </a:endParaRPr>
          </a:p>
        </p:txBody>
      </p:sp>
      <p:sp>
        <p:nvSpPr>
          <p:cNvPr id="18" name="Shape 16"/>
          <p:cNvSpPr/>
          <p:nvPr/>
        </p:nvSpPr>
        <p:spPr>
          <a:xfrm>
            <a:off x="793790" y="6791890"/>
            <a:ext cx="408265" cy="408265"/>
          </a:xfrm>
          <a:prstGeom prst="roundRect">
            <a:avLst>
              <a:gd name="adj" fmla="val 18668"/>
            </a:avLst>
          </a:prstGeom>
          <a:solidFill>
            <a:srgbClr val="E0D7F4"/>
          </a:solidFill>
          <a:ln w="7620">
            <a:solidFill>
              <a:srgbClr val="C6BDDA"/>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9" name="Text 17"/>
          <p:cNvSpPr/>
          <p:nvPr/>
        </p:nvSpPr>
        <p:spPr>
          <a:xfrm>
            <a:off x="1347192" y="6674048"/>
            <a:ext cx="3053120" cy="311944"/>
          </a:xfrm>
          <a:prstGeom prst="rect">
            <a:avLst/>
          </a:prstGeom>
          <a:noFill/>
          <a:ln/>
        </p:spPr>
        <p:txBody>
          <a:bodyPr wrap="none" lIns="0" tIns="0" rIns="0" bIns="0" rtlCol="0" anchor="t"/>
          <a:lstStyle/>
          <a:p>
            <a:pPr marL="0" indent="0" algn="l">
              <a:lnSpc>
                <a:spcPts val="2450"/>
              </a:lnSpc>
              <a:buNone/>
            </a:pPr>
            <a:r>
              <a:rPr lang="en-US" sz="1950" b="1" dirty="0">
                <a:solidFill>
                  <a:srgbClr val="0066CC"/>
                </a:solidFill>
                <a:latin typeface="Calibri" panose="020F0502020204030204" pitchFamily="34" charset="0"/>
                <a:ea typeface="Petrona Bold" pitchFamily="34" charset="-122"/>
                <a:cs typeface="Calibri" panose="020F0502020204030204" pitchFamily="34" charset="0"/>
              </a:rPr>
              <a:t>Drawdown reduction value</a:t>
            </a:r>
            <a:endParaRPr lang="en-US" sz="1950" dirty="0">
              <a:latin typeface="Calibri" panose="020F0502020204030204" pitchFamily="34" charset="0"/>
              <a:cs typeface="Calibri" panose="020F0502020204030204" pitchFamily="34" charset="0"/>
            </a:endParaRPr>
          </a:p>
        </p:txBody>
      </p:sp>
      <p:sp>
        <p:nvSpPr>
          <p:cNvPr id="20" name="Text 18"/>
          <p:cNvSpPr/>
          <p:nvPr/>
        </p:nvSpPr>
        <p:spPr>
          <a:xfrm>
            <a:off x="1347192" y="7073027"/>
            <a:ext cx="12489418" cy="522446"/>
          </a:xfrm>
          <a:prstGeom prst="rect">
            <a:avLst/>
          </a:prstGeom>
          <a:noFill/>
          <a:ln/>
        </p:spPr>
        <p:txBody>
          <a:bodyPr wrap="square" lIns="0" tIns="0" rIns="0" bIns="0" rtlCol="0" anchor="t"/>
          <a:lstStyle/>
          <a:p>
            <a:pPr marL="0" indent="0" algn="l">
              <a:lnSpc>
                <a:spcPts val="2050"/>
              </a:lnSpc>
              <a:buNone/>
            </a:pPr>
            <a:r>
              <a:rPr lang="en-US" sz="1400" dirty="0">
                <a:solidFill>
                  <a:srgbClr val="272525"/>
                </a:solidFill>
                <a:latin typeface="Calibri" panose="020F0502020204030204" pitchFamily="34" charset="0"/>
                <a:ea typeface="Inter" pitchFamily="34" charset="-122"/>
                <a:cs typeface="Calibri" panose="020F0502020204030204" pitchFamily="34" charset="0"/>
              </a:rPr>
              <a:t>The IPO-only baseline has a higher Sharpe (3.92) than the model (3.27) - the model's value is in drawdown reduction (-7.47% vs -10.08%)</a:t>
            </a:r>
            <a:endParaRPr lang="en-US" sz="1400" dirty="0">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60B8ACD7-9F45-F4E8-D0C4-4FD5966D9976}"/>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85216AC4-4FBB-EA69-217C-CB92E712BE71}"/>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9624D81B-A1D2-6636-0BD6-71796868F755}"/>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0932" y="626745"/>
            <a:ext cx="5938004" cy="699135"/>
          </a:xfrm>
          <a:prstGeom prst="rect">
            <a:avLst/>
          </a:prstGeom>
          <a:noFill/>
          <a:ln/>
        </p:spPr>
        <p:txBody>
          <a:bodyPr wrap="none" lIns="0" tIns="0" rIns="0" bIns="0" rtlCol="0" anchor="t"/>
          <a:lstStyle/>
          <a:p>
            <a:pPr marL="0" indent="0" algn="l">
              <a:lnSpc>
                <a:spcPts val="5500"/>
              </a:lnSpc>
              <a:buNone/>
            </a:pPr>
            <a:r>
              <a:rPr lang="en-US" sz="4400" b="1" dirty="0">
                <a:solidFill>
                  <a:srgbClr val="0066CC"/>
                </a:solidFill>
                <a:latin typeface="Calibri" panose="020F0502020204030204" pitchFamily="34" charset="0"/>
                <a:ea typeface="Petrona Bold" pitchFamily="34" charset="-122"/>
                <a:cs typeface="Calibri" panose="020F0502020204030204" pitchFamily="34" charset="0"/>
              </a:rPr>
              <a:t>Areas for Improvement</a:t>
            </a:r>
            <a:endParaRPr lang="en-US" sz="4400" dirty="0">
              <a:latin typeface="Calibri" panose="020F0502020204030204" pitchFamily="34" charset="0"/>
              <a:cs typeface="Calibri" panose="020F0502020204030204" pitchFamily="34" charset="0"/>
            </a:endParaRPr>
          </a:p>
        </p:txBody>
      </p:sp>
      <p:sp>
        <p:nvSpPr>
          <p:cNvPr id="3" name="Shape 1"/>
          <p:cNvSpPr/>
          <p:nvPr/>
        </p:nvSpPr>
        <p:spPr>
          <a:xfrm>
            <a:off x="790932" y="1690568"/>
            <a:ext cx="6433066" cy="2453878"/>
          </a:xfrm>
          <a:prstGeom prst="roundRect">
            <a:avLst>
              <a:gd name="adj" fmla="val 4472"/>
            </a:avLst>
          </a:prstGeom>
          <a:solidFill>
            <a:srgbClr val="FDFAF7"/>
          </a:solidFill>
          <a:ln w="22860">
            <a:solidFill>
              <a:srgbClr val="6237C8"/>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4" name="Shape 2"/>
          <p:cNvSpPr/>
          <p:nvPr/>
        </p:nvSpPr>
        <p:spPr>
          <a:xfrm>
            <a:off x="768072" y="1690568"/>
            <a:ext cx="91440" cy="2453878"/>
          </a:xfrm>
          <a:prstGeom prst="roundRect">
            <a:avLst>
              <a:gd name="adj" fmla="val 93421"/>
            </a:avLst>
          </a:prstGeom>
          <a:solidFill>
            <a:srgbClr val="6237C8"/>
          </a:solidFill>
          <a:ln/>
        </p:spPr>
        <p:txBody>
          <a:bodyPr/>
          <a:lstStyle/>
          <a:p>
            <a:endParaRPr lang="en-US">
              <a:latin typeface="Calibri" panose="020F0502020204030204" pitchFamily="34" charset="0"/>
              <a:cs typeface="Calibri" panose="020F0502020204030204" pitchFamily="34" charset="0"/>
            </a:endParaRPr>
          </a:p>
        </p:txBody>
      </p:sp>
      <p:sp>
        <p:nvSpPr>
          <p:cNvPr id="5" name="Text 3"/>
          <p:cNvSpPr/>
          <p:nvPr/>
        </p:nvSpPr>
        <p:spPr>
          <a:xfrm>
            <a:off x="1085731" y="1916787"/>
            <a:ext cx="2796540" cy="349568"/>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No out-of-sample test</a:t>
            </a:r>
            <a:endParaRPr lang="en-US" sz="2200" dirty="0">
              <a:latin typeface="Calibri" panose="020F0502020204030204" pitchFamily="34" charset="0"/>
              <a:cs typeface="Calibri" panose="020F0502020204030204" pitchFamily="34" charset="0"/>
            </a:endParaRPr>
          </a:p>
        </p:txBody>
      </p:sp>
      <p:sp>
        <p:nvSpPr>
          <p:cNvPr id="6" name="Text 4"/>
          <p:cNvSpPr/>
          <p:nvPr/>
        </p:nvSpPr>
        <p:spPr>
          <a:xfrm>
            <a:off x="1085731" y="2375773"/>
            <a:ext cx="5912048" cy="1542455"/>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The validation set is both the evaluation set and the set used for hyperparameter selection. This is methodologically equivalent to testing on training data. The Sharpe of 3.27 is optimistic - it reflects the best of 288 configs on this specific period.</a:t>
            </a:r>
            <a:endParaRPr lang="en-US" sz="1600" dirty="0">
              <a:latin typeface="Calibri" panose="020F0502020204030204" pitchFamily="34" charset="0"/>
              <a:cs typeface="Calibri" panose="020F0502020204030204" pitchFamily="34" charset="0"/>
            </a:endParaRPr>
          </a:p>
        </p:txBody>
      </p:sp>
      <p:sp>
        <p:nvSpPr>
          <p:cNvPr id="7" name="Shape 5"/>
          <p:cNvSpPr/>
          <p:nvPr/>
        </p:nvSpPr>
        <p:spPr>
          <a:xfrm>
            <a:off x="7406283" y="1690568"/>
            <a:ext cx="6433185" cy="2453878"/>
          </a:xfrm>
          <a:prstGeom prst="roundRect">
            <a:avLst>
              <a:gd name="adj" fmla="val 4472"/>
            </a:avLst>
          </a:prstGeom>
          <a:solidFill>
            <a:srgbClr val="FDFAF7"/>
          </a:solidFill>
          <a:ln w="22860">
            <a:solidFill>
              <a:srgbClr val="6237C8"/>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8" name="Shape 6"/>
          <p:cNvSpPr/>
          <p:nvPr/>
        </p:nvSpPr>
        <p:spPr>
          <a:xfrm>
            <a:off x="7383423" y="1690568"/>
            <a:ext cx="91440" cy="2453878"/>
          </a:xfrm>
          <a:prstGeom prst="roundRect">
            <a:avLst>
              <a:gd name="adj" fmla="val 93421"/>
            </a:avLst>
          </a:prstGeom>
          <a:solidFill>
            <a:srgbClr val="6237C8"/>
          </a:solidFill>
          <a:ln/>
        </p:spPr>
        <p:txBody>
          <a:bodyPr/>
          <a:lstStyle/>
          <a:p>
            <a:endParaRPr lang="en-US">
              <a:latin typeface="Calibri" panose="020F0502020204030204" pitchFamily="34" charset="0"/>
              <a:cs typeface="Calibri" panose="020F0502020204030204" pitchFamily="34" charset="0"/>
            </a:endParaRPr>
          </a:p>
        </p:txBody>
      </p:sp>
      <p:sp>
        <p:nvSpPr>
          <p:cNvPr id="9" name="Text 7"/>
          <p:cNvSpPr/>
          <p:nvPr/>
        </p:nvSpPr>
        <p:spPr>
          <a:xfrm>
            <a:off x="7701082" y="1916787"/>
            <a:ext cx="4465796" cy="349568"/>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Model underperforms naive 50/50</a:t>
            </a:r>
            <a:endParaRPr lang="en-US" sz="2200" dirty="0">
              <a:latin typeface="Calibri" panose="020F0502020204030204" pitchFamily="34" charset="0"/>
              <a:cs typeface="Calibri" panose="020F0502020204030204" pitchFamily="34" charset="0"/>
            </a:endParaRPr>
          </a:p>
        </p:txBody>
      </p:sp>
      <p:sp>
        <p:nvSpPr>
          <p:cNvPr id="10" name="Text 8"/>
          <p:cNvSpPr/>
          <p:nvPr/>
        </p:nvSpPr>
        <p:spPr>
          <a:xfrm>
            <a:off x="7701082" y="2375773"/>
            <a:ext cx="5912168" cy="123396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The equal-weight baseline achieves Sharpe 3.65 vs the model's 3.27, with comparable drawdown (-7.20% vs -7.47%). The GRU adds complexity without demonstrably improving on a zero-parameter strategy.</a:t>
            </a:r>
            <a:endParaRPr lang="en-US" sz="1600" dirty="0">
              <a:latin typeface="Calibri" panose="020F0502020204030204" pitchFamily="34" charset="0"/>
              <a:cs typeface="Calibri" panose="020F0502020204030204" pitchFamily="34" charset="0"/>
            </a:endParaRPr>
          </a:p>
        </p:txBody>
      </p:sp>
      <p:sp>
        <p:nvSpPr>
          <p:cNvPr id="11" name="Shape 9"/>
          <p:cNvSpPr/>
          <p:nvPr/>
        </p:nvSpPr>
        <p:spPr>
          <a:xfrm>
            <a:off x="790932" y="4326731"/>
            <a:ext cx="6433066" cy="2145387"/>
          </a:xfrm>
          <a:prstGeom prst="roundRect">
            <a:avLst>
              <a:gd name="adj" fmla="val 5115"/>
            </a:avLst>
          </a:prstGeom>
          <a:solidFill>
            <a:srgbClr val="FDFAF7"/>
          </a:solidFill>
          <a:ln w="22860">
            <a:solidFill>
              <a:srgbClr val="6237C8"/>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2" name="Shape 10"/>
          <p:cNvSpPr/>
          <p:nvPr/>
        </p:nvSpPr>
        <p:spPr>
          <a:xfrm>
            <a:off x="768072" y="4326731"/>
            <a:ext cx="91440" cy="2145387"/>
          </a:xfrm>
          <a:prstGeom prst="roundRect">
            <a:avLst>
              <a:gd name="adj" fmla="val 93421"/>
            </a:avLst>
          </a:prstGeom>
          <a:solidFill>
            <a:srgbClr val="6237C8"/>
          </a:solidFill>
          <a:ln/>
        </p:spPr>
        <p:txBody>
          <a:bodyPr/>
          <a:lstStyle/>
          <a:p>
            <a:endParaRPr lang="en-US">
              <a:latin typeface="Calibri" panose="020F0502020204030204" pitchFamily="34" charset="0"/>
              <a:cs typeface="Calibri" panose="020F0502020204030204" pitchFamily="34" charset="0"/>
            </a:endParaRPr>
          </a:p>
        </p:txBody>
      </p:sp>
      <p:sp>
        <p:nvSpPr>
          <p:cNvPr id="13" name="Text 11"/>
          <p:cNvSpPr/>
          <p:nvPr/>
        </p:nvSpPr>
        <p:spPr>
          <a:xfrm>
            <a:off x="1085731" y="4552950"/>
            <a:ext cx="4293513" cy="349568"/>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CVaR formulation is approximate</a:t>
            </a:r>
            <a:endParaRPr lang="en-US" sz="2200" dirty="0">
              <a:latin typeface="Calibri" panose="020F0502020204030204" pitchFamily="34" charset="0"/>
              <a:cs typeface="Calibri" panose="020F0502020204030204" pitchFamily="34" charset="0"/>
            </a:endParaRPr>
          </a:p>
        </p:txBody>
      </p:sp>
      <p:sp>
        <p:nvSpPr>
          <p:cNvPr id="14" name="Text 12"/>
          <p:cNvSpPr/>
          <p:nvPr/>
        </p:nvSpPr>
        <p:spPr>
          <a:xfrm>
            <a:off x="1085731" y="5011936"/>
            <a:ext cx="5912048" cy="616982"/>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The soft-sorting heuristic uses a hardcoded temperature (0.1) that was never tuned or validated against the true CVaR.</a:t>
            </a:r>
            <a:endParaRPr lang="en-US" sz="1600" dirty="0">
              <a:latin typeface="Calibri" panose="020F0502020204030204" pitchFamily="34" charset="0"/>
              <a:cs typeface="Calibri" panose="020F0502020204030204" pitchFamily="34" charset="0"/>
            </a:endParaRPr>
          </a:p>
        </p:txBody>
      </p:sp>
      <p:sp>
        <p:nvSpPr>
          <p:cNvPr id="15" name="Shape 13"/>
          <p:cNvSpPr/>
          <p:nvPr/>
        </p:nvSpPr>
        <p:spPr>
          <a:xfrm>
            <a:off x="7406283" y="4326731"/>
            <a:ext cx="6433185" cy="2145387"/>
          </a:xfrm>
          <a:prstGeom prst="roundRect">
            <a:avLst>
              <a:gd name="adj" fmla="val 5115"/>
            </a:avLst>
          </a:prstGeom>
          <a:solidFill>
            <a:srgbClr val="FDFAF7"/>
          </a:solidFill>
          <a:ln w="22860">
            <a:solidFill>
              <a:srgbClr val="6237C8"/>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6" name="Shape 14"/>
          <p:cNvSpPr/>
          <p:nvPr/>
        </p:nvSpPr>
        <p:spPr>
          <a:xfrm>
            <a:off x="7383423" y="4326731"/>
            <a:ext cx="91440" cy="2145387"/>
          </a:xfrm>
          <a:prstGeom prst="roundRect">
            <a:avLst>
              <a:gd name="adj" fmla="val 93421"/>
            </a:avLst>
          </a:prstGeom>
          <a:solidFill>
            <a:srgbClr val="6237C8"/>
          </a:solidFill>
          <a:ln/>
        </p:spPr>
        <p:txBody>
          <a:bodyPr/>
          <a:lstStyle/>
          <a:p>
            <a:endParaRPr lang="en-US">
              <a:latin typeface="Calibri" panose="020F0502020204030204" pitchFamily="34" charset="0"/>
              <a:cs typeface="Calibri" panose="020F0502020204030204" pitchFamily="34" charset="0"/>
            </a:endParaRPr>
          </a:p>
        </p:txBody>
      </p:sp>
      <p:sp>
        <p:nvSpPr>
          <p:cNvPr id="17" name="Text 15"/>
          <p:cNvSpPr/>
          <p:nvPr/>
        </p:nvSpPr>
        <p:spPr>
          <a:xfrm>
            <a:off x="7701082" y="4552950"/>
            <a:ext cx="2796540" cy="349568"/>
          </a:xfrm>
          <a:prstGeom prst="rect">
            <a:avLst/>
          </a:prstGeom>
          <a:noFill/>
          <a:ln/>
        </p:spPr>
        <p:txBody>
          <a:bodyPr wrap="none" lIns="0" tIns="0" rIns="0" bIns="0" rtlCol="0" anchor="t"/>
          <a:lstStyle/>
          <a:p>
            <a:pPr marL="0" indent="0" algn="l">
              <a:lnSpc>
                <a:spcPts val="2750"/>
              </a:lnSpc>
              <a:buNone/>
            </a:pPr>
            <a:r>
              <a:rPr lang="en-US" sz="2200" b="1" dirty="0">
                <a:solidFill>
                  <a:srgbClr val="0066CC"/>
                </a:solidFill>
                <a:latin typeface="Calibri" panose="020F0502020204030204" pitchFamily="34" charset="0"/>
                <a:ea typeface="Petrona Bold" pitchFamily="34" charset="-122"/>
                <a:cs typeface="Calibri" panose="020F0502020204030204" pitchFamily="34" charset="0"/>
              </a:rPr>
              <a:t>Validation leakage</a:t>
            </a:r>
            <a:endParaRPr lang="en-US" sz="2200" dirty="0">
              <a:latin typeface="Calibri" panose="020F0502020204030204" pitchFamily="34" charset="0"/>
              <a:cs typeface="Calibri" panose="020F0502020204030204" pitchFamily="34" charset="0"/>
            </a:endParaRPr>
          </a:p>
        </p:txBody>
      </p:sp>
      <p:sp>
        <p:nvSpPr>
          <p:cNvPr id="18" name="Text 16"/>
          <p:cNvSpPr/>
          <p:nvPr/>
        </p:nvSpPr>
        <p:spPr>
          <a:xfrm>
            <a:off x="7701082" y="5011936"/>
            <a:ext cx="5912168" cy="1233964"/>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Calibri" panose="020F0502020204030204" pitchFamily="34" charset="0"/>
                <a:ea typeface="Inter" pitchFamily="34" charset="-122"/>
                <a:cs typeface="Calibri" panose="020F0502020204030204" pitchFamily="34" charset="0"/>
              </a:rPr>
              <a:t>Choosing the config that maximizes validation Sharpe across 288 trials implicitly fits to the validation set. A Sharpe of 3.27 on a 232-day window with 288 searches amounts to substantial multiple-testing bias.</a:t>
            </a:r>
            <a:endParaRPr lang="en-US" sz="1600" dirty="0">
              <a:latin typeface="Calibri" panose="020F0502020204030204" pitchFamily="34" charset="0"/>
              <a:cs typeface="Calibri" panose="020F0502020204030204" pitchFamily="34" charset="0"/>
            </a:endParaRPr>
          </a:p>
        </p:txBody>
      </p:sp>
      <p:sp>
        <p:nvSpPr>
          <p:cNvPr id="19" name="Text 17"/>
          <p:cNvSpPr/>
          <p:nvPr/>
        </p:nvSpPr>
        <p:spPr>
          <a:xfrm>
            <a:off x="790932" y="6677263"/>
            <a:ext cx="13048536" cy="925473"/>
          </a:xfrm>
          <a:prstGeom prst="rect">
            <a:avLst/>
          </a:prstGeom>
          <a:noFill/>
          <a:ln/>
        </p:spPr>
        <p:txBody>
          <a:bodyPr wrap="square" lIns="0" tIns="0" rIns="0" bIns="0" rtlCol="0" anchor="t"/>
          <a:lstStyle/>
          <a:p>
            <a:pPr marL="0" indent="0" algn="l">
              <a:lnSpc>
                <a:spcPts val="2400"/>
              </a:lnSpc>
              <a:buNone/>
            </a:pPr>
            <a:r>
              <a:rPr lang="en-US" sz="1600" b="1" dirty="0">
                <a:solidFill>
                  <a:srgbClr val="272525"/>
                </a:solidFill>
                <a:latin typeface="Calibri" panose="020F0502020204030204" pitchFamily="34" charset="0"/>
                <a:ea typeface="Inter" pitchFamily="34" charset="-122"/>
                <a:cs typeface="Calibri" panose="020F0502020204030204" pitchFamily="34" charset="0"/>
              </a:rPr>
              <a:t>Additional concerns:</a:t>
            </a:r>
            <a:r>
              <a:rPr lang="en-US" sz="1600" dirty="0">
                <a:solidFill>
                  <a:srgbClr val="272525"/>
                </a:solidFill>
                <a:latin typeface="Calibri" panose="020F0502020204030204" pitchFamily="34" charset="0"/>
                <a:ea typeface="Inter" pitchFamily="34" charset="-122"/>
                <a:cs typeface="Calibri" panose="020F0502020204030204" pitchFamily="34" charset="0"/>
              </a:rPr>
              <a:t> Survivorship bias (IPO index excludes delisted/failed stocks, inflating index returns) and regime dependence (the 2020–2024 period is unusually favorable for IPOs). It is unclear whether any model trained on this window would generalize to a regime with weak IPO performance.</a:t>
            </a:r>
            <a:endParaRPr lang="en-US" sz="1600" dirty="0">
              <a:latin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EF967D61-DE2F-4C4B-6DB6-C852FC50CC20}"/>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FD5880FF-F219-D4FF-DA0E-7BF554B480A0}"/>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21E7041E-00AD-044E-0A93-C0491AD497C2}"/>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11329"/>
            <a:ext cx="8206383" cy="779621"/>
          </a:xfrm>
          <a:prstGeom prst="rect">
            <a:avLst/>
          </a:prstGeom>
          <a:noFill/>
          <a:ln/>
        </p:spPr>
        <p:txBody>
          <a:bodyPr wrap="none" lIns="0" tIns="0" rIns="0" bIns="0" rtlCol="0" anchor="t"/>
          <a:lstStyle/>
          <a:p>
            <a:pPr marL="0" indent="0" algn="l">
              <a:lnSpc>
                <a:spcPts val="6100"/>
              </a:lnSpc>
              <a:buNone/>
            </a:pPr>
            <a:r>
              <a:rPr lang="en-US" sz="4900" b="1" dirty="0">
                <a:solidFill>
                  <a:srgbClr val="0066CC"/>
                </a:solidFill>
                <a:latin typeface="Calibri" panose="020F0502020204030204" pitchFamily="34" charset="0"/>
                <a:ea typeface="Petrona Bold" pitchFamily="34" charset="-122"/>
                <a:cs typeface="Calibri" panose="020F0502020204030204" pitchFamily="34" charset="0"/>
              </a:rPr>
              <a:t>Next Steps</a:t>
            </a:r>
            <a:endParaRPr lang="en-US" sz="4900" dirty="0">
              <a:latin typeface="Calibri" panose="020F0502020204030204" pitchFamily="34" charset="0"/>
              <a:cs typeface="Calibri" panose="020F0502020204030204" pitchFamily="34" charset="0"/>
            </a:endParaRPr>
          </a:p>
        </p:txBody>
      </p:sp>
      <p:sp>
        <p:nvSpPr>
          <p:cNvPr id="3" name="Text 1"/>
          <p:cNvSpPr/>
          <p:nvPr/>
        </p:nvSpPr>
        <p:spPr>
          <a:xfrm>
            <a:off x="793790" y="23445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Petrona Light" pitchFamily="34" charset="-122"/>
                <a:cs typeface="Calibri" panose="020F0502020204030204" pitchFamily="34" charset="0"/>
              </a:rPr>
              <a:t>01</a:t>
            </a:r>
            <a:endParaRPr lang="en-US" sz="1750" dirty="0">
              <a:latin typeface="Calibri" panose="020F0502020204030204" pitchFamily="34" charset="0"/>
              <a:cs typeface="Calibri" panose="020F0502020204030204" pitchFamily="34" charset="0"/>
            </a:endParaRPr>
          </a:p>
        </p:txBody>
      </p:sp>
      <p:sp>
        <p:nvSpPr>
          <p:cNvPr id="4" name="Shape 2"/>
          <p:cNvSpPr/>
          <p:nvPr/>
        </p:nvSpPr>
        <p:spPr>
          <a:xfrm>
            <a:off x="793790" y="2699623"/>
            <a:ext cx="4196358" cy="30480"/>
          </a:xfrm>
          <a:prstGeom prst="rect">
            <a:avLst/>
          </a:prstGeom>
          <a:solidFill>
            <a:srgbClr val="6237C8"/>
          </a:solidFill>
          <a:ln/>
        </p:spPr>
        <p:txBody>
          <a:bodyPr/>
          <a:lstStyle/>
          <a:p>
            <a:endParaRPr lang="en-US">
              <a:latin typeface="Calibri" panose="020F0502020204030204" pitchFamily="34" charset="0"/>
              <a:cs typeface="Calibri" panose="020F0502020204030204" pitchFamily="34" charset="0"/>
            </a:endParaRPr>
          </a:p>
        </p:txBody>
      </p:sp>
      <p:sp>
        <p:nvSpPr>
          <p:cNvPr id="5" name="Text 3"/>
          <p:cNvSpPr/>
          <p:nvPr/>
        </p:nvSpPr>
        <p:spPr>
          <a:xfrm>
            <a:off x="793790" y="2873931"/>
            <a:ext cx="4196358" cy="779859"/>
          </a:xfrm>
          <a:prstGeom prst="rect">
            <a:avLst/>
          </a:prstGeom>
          <a:noFill/>
          <a:ln/>
        </p:spPr>
        <p:txBody>
          <a:bodyPr wrap="squar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Train/</a:t>
            </a:r>
            <a:r>
              <a:rPr lang="en-US" sz="2450" b="1" dirty="0" err="1">
                <a:solidFill>
                  <a:srgbClr val="0066CC"/>
                </a:solidFill>
                <a:latin typeface="Calibri" panose="020F0502020204030204" pitchFamily="34" charset="0"/>
                <a:ea typeface="Petrona Bold" pitchFamily="34" charset="-122"/>
                <a:cs typeface="Calibri" panose="020F0502020204030204" pitchFamily="34" charset="0"/>
              </a:rPr>
              <a:t>val</a:t>
            </a:r>
            <a:r>
              <a:rPr lang="en-US" sz="2450" b="1" dirty="0">
                <a:solidFill>
                  <a:srgbClr val="0066CC"/>
                </a:solidFill>
                <a:latin typeface="Calibri" panose="020F0502020204030204" pitchFamily="34" charset="0"/>
                <a:ea typeface="Petrona Bold" pitchFamily="34" charset="-122"/>
                <a:cs typeface="Calibri" panose="020F0502020204030204" pitchFamily="34" charset="0"/>
              </a:rPr>
              <a:t>/test alternative model architecture</a:t>
            </a:r>
            <a:endParaRPr lang="en-US" sz="2450" dirty="0">
              <a:latin typeface="Calibri" panose="020F0502020204030204" pitchFamily="34" charset="0"/>
              <a:cs typeface="Calibri" panose="020F0502020204030204" pitchFamily="34" charset="0"/>
            </a:endParaRPr>
          </a:p>
        </p:txBody>
      </p:sp>
      <p:sp>
        <p:nvSpPr>
          <p:cNvPr id="6" name="Text 4"/>
          <p:cNvSpPr/>
          <p:nvPr/>
        </p:nvSpPr>
        <p:spPr>
          <a:xfrm>
            <a:off x="793790" y="3789878"/>
            <a:ext cx="4196358"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Train and validate alternative model architectures such as a transformer-based model and LSTM on data. Test on 2025 period. Report final metrics on the test set. This directly addresses the validation leakage problem.</a:t>
            </a:r>
            <a:endParaRPr lang="en-US" sz="1750" dirty="0">
              <a:latin typeface="Calibri" panose="020F0502020204030204" pitchFamily="34" charset="0"/>
              <a:cs typeface="Calibri" panose="020F0502020204030204" pitchFamily="34" charset="0"/>
            </a:endParaRPr>
          </a:p>
        </p:txBody>
      </p:sp>
      <p:sp>
        <p:nvSpPr>
          <p:cNvPr id="7" name="Text 5"/>
          <p:cNvSpPr/>
          <p:nvPr/>
        </p:nvSpPr>
        <p:spPr>
          <a:xfrm>
            <a:off x="5216962" y="23445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Petrona Light" pitchFamily="34" charset="-122"/>
                <a:cs typeface="Calibri" panose="020F0502020204030204" pitchFamily="34" charset="0"/>
              </a:rPr>
              <a:t>02</a:t>
            </a:r>
            <a:endParaRPr lang="en-US" sz="1750" dirty="0">
              <a:latin typeface="Calibri" panose="020F0502020204030204" pitchFamily="34" charset="0"/>
              <a:cs typeface="Calibri" panose="020F0502020204030204" pitchFamily="34" charset="0"/>
            </a:endParaRPr>
          </a:p>
        </p:txBody>
      </p:sp>
      <p:sp>
        <p:nvSpPr>
          <p:cNvPr id="8" name="Shape 6"/>
          <p:cNvSpPr/>
          <p:nvPr/>
        </p:nvSpPr>
        <p:spPr>
          <a:xfrm>
            <a:off x="5216962" y="2699623"/>
            <a:ext cx="4196358" cy="30480"/>
          </a:xfrm>
          <a:prstGeom prst="rect">
            <a:avLst/>
          </a:prstGeom>
          <a:solidFill>
            <a:srgbClr val="6237C8"/>
          </a:solidFill>
          <a:ln/>
        </p:spPr>
        <p:txBody>
          <a:bodyPr/>
          <a:lstStyle/>
          <a:p>
            <a:endParaRPr lang="en-US">
              <a:latin typeface="Calibri" panose="020F0502020204030204" pitchFamily="34" charset="0"/>
              <a:cs typeface="Calibri" panose="020F0502020204030204" pitchFamily="34" charset="0"/>
            </a:endParaRPr>
          </a:p>
        </p:txBody>
      </p:sp>
      <p:sp>
        <p:nvSpPr>
          <p:cNvPr id="9" name="Text 7"/>
          <p:cNvSpPr/>
          <p:nvPr/>
        </p:nvSpPr>
        <p:spPr>
          <a:xfrm>
            <a:off x="5216962" y="2873931"/>
            <a:ext cx="4196358" cy="779859"/>
          </a:xfrm>
          <a:prstGeom prst="rect">
            <a:avLst/>
          </a:prstGeom>
          <a:noFill/>
          <a:ln/>
        </p:spPr>
        <p:txBody>
          <a:bodyPr wrap="squar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Improve validation loss</a:t>
            </a:r>
            <a:endParaRPr lang="en-US" sz="2450" dirty="0">
              <a:latin typeface="Calibri" panose="020F0502020204030204" pitchFamily="34" charset="0"/>
              <a:cs typeface="Calibri" panose="020F0502020204030204" pitchFamily="34" charset="0"/>
            </a:endParaRPr>
          </a:p>
        </p:txBody>
      </p:sp>
      <p:sp>
        <p:nvSpPr>
          <p:cNvPr id="10" name="Text 8"/>
          <p:cNvSpPr/>
          <p:nvPr/>
        </p:nvSpPr>
        <p:spPr>
          <a:xfrm>
            <a:off x="5216962" y="3789878"/>
            <a:ext cx="4196358"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Adjust levers like batch size, step size, loss function components such as risk penalty and turnover, and potentially expand our dataset to improve validation loss convergence and test results.</a:t>
            </a:r>
            <a:endParaRPr lang="en-US" sz="1750" dirty="0">
              <a:latin typeface="Calibri" panose="020F0502020204030204" pitchFamily="34" charset="0"/>
              <a:cs typeface="Calibri" panose="020F0502020204030204" pitchFamily="34" charset="0"/>
            </a:endParaRPr>
          </a:p>
        </p:txBody>
      </p:sp>
      <p:sp>
        <p:nvSpPr>
          <p:cNvPr id="11" name="Text 9"/>
          <p:cNvSpPr/>
          <p:nvPr/>
        </p:nvSpPr>
        <p:spPr>
          <a:xfrm>
            <a:off x="9640133" y="23445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Petrona Light" pitchFamily="34" charset="-122"/>
                <a:cs typeface="Calibri" panose="020F0502020204030204" pitchFamily="34" charset="0"/>
              </a:rPr>
              <a:t>03</a:t>
            </a:r>
            <a:endParaRPr lang="en-US" sz="1750" dirty="0">
              <a:latin typeface="Calibri" panose="020F0502020204030204" pitchFamily="34" charset="0"/>
              <a:cs typeface="Calibri" panose="020F0502020204030204" pitchFamily="34" charset="0"/>
            </a:endParaRPr>
          </a:p>
        </p:txBody>
      </p:sp>
      <p:sp>
        <p:nvSpPr>
          <p:cNvPr id="12" name="Shape 10"/>
          <p:cNvSpPr/>
          <p:nvPr/>
        </p:nvSpPr>
        <p:spPr>
          <a:xfrm>
            <a:off x="9640133" y="2699623"/>
            <a:ext cx="4196358" cy="30480"/>
          </a:xfrm>
          <a:prstGeom prst="rect">
            <a:avLst/>
          </a:prstGeom>
          <a:solidFill>
            <a:srgbClr val="6237C8"/>
          </a:solidFill>
          <a:ln/>
        </p:spPr>
        <p:txBody>
          <a:bodyPr/>
          <a:lstStyle/>
          <a:p>
            <a:endParaRPr lang="en-US">
              <a:latin typeface="Calibri" panose="020F0502020204030204" pitchFamily="34" charset="0"/>
              <a:cs typeface="Calibri" panose="020F0502020204030204" pitchFamily="34" charset="0"/>
            </a:endParaRPr>
          </a:p>
        </p:txBody>
      </p:sp>
      <p:sp>
        <p:nvSpPr>
          <p:cNvPr id="13" name="Text 11"/>
          <p:cNvSpPr/>
          <p:nvPr/>
        </p:nvSpPr>
        <p:spPr>
          <a:xfrm>
            <a:off x="9640133" y="2873931"/>
            <a:ext cx="4196358" cy="779859"/>
          </a:xfrm>
          <a:prstGeom prst="rect">
            <a:avLst/>
          </a:prstGeom>
          <a:noFill/>
          <a:ln/>
        </p:spPr>
        <p:txBody>
          <a:bodyPr wrap="square" lIns="0" tIns="0" rIns="0" bIns="0" rtlCol="0" anchor="t"/>
          <a:lstStyle/>
          <a:p>
            <a:pPr marL="0" indent="0" algn="l">
              <a:lnSpc>
                <a:spcPts val="3050"/>
              </a:lnSpc>
              <a:buNone/>
            </a:pPr>
            <a:r>
              <a:rPr lang="en-US" sz="2450" b="1" dirty="0">
                <a:solidFill>
                  <a:srgbClr val="0066CC"/>
                </a:solidFill>
                <a:latin typeface="Calibri" panose="020F0502020204030204" pitchFamily="34" charset="0"/>
                <a:ea typeface="Petrona Bold" pitchFamily="34" charset="-122"/>
                <a:cs typeface="Calibri" panose="020F0502020204030204" pitchFamily="34" charset="0"/>
              </a:rPr>
              <a:t>Validate the CVaR approximation</a:t>
            </a:r>
            <a:endParaRPr lang="en-US" sz="2450" dirty="0">
              <a:latin typeface="Calibri" panose="020F0502020204030204" pitchFamily="34" charset="0"/>
              <a:cs typeface="Calibri" panose="020F0502020204030204" pitchFamily="34" charset="0"/>
            </a:endParaRPr>
          </a:p>
        </p:txBody>
      </p:sp>
      <p:sp>
        <p:nvSpPr>
          <p:cNvPr id="14" name="Text 12"/>
          <p:cNvSpPr/>
          <p:nvPr/>
        </p:nvSpPr>
        <p:spPr>
          <a:xfrm>
            <a:off x="9640133" y="3789878"/>
            <a:ext cx="4196358"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Compare the soft-sorted CVaR output against the exact empirical CVaR (sort returns, average worst 5%) on several batches. If the approximation deviates by more than 10%, we can tune the temperature.</a:t>
            </a:r>
            <a:endParaRPr lang="en-US" sz="1750"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7D731A08-E61A-7B66-5466-3C0C2A77C2CB}"/>
              </a:ext>
            </a:extLst>
          </p:cNvPr>
          <p:cNvSpPr/>
          <p:nvPr/>
        </p:nvSpPr>
        <p:spPr>
          <a:xfrm>
            <a:off x="12618720" y="7638757"/>
            <a:ext cx="2124222" cy="5908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49B88021-A9FF-A8A8-C14F-11A1641AE76A}"/>
              </a:ext>
            </a:extLst>
          </p:cNvPr>
          <p:cNvSpPr/>
          <p:nvPr/>
        </p:nvSpPr>
        <p:spPr>
          <a:xfrm>
            <a:off x="12618720" y="7635240"/>
            <a:ext cx="2121408"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54722B7-B19D-47E9-FF5E-E4DA67471A58}"/>
              </a:ext>
            </a:extLst>
          </p:cNvPr>
          <p:cNvSpPr txBox="1"/>
          <p:nvPr/>
        </p:nvSpPr>
        <p:spPr>
          <a:xfrm>
            <a:off x="12664440" y="7662672"/>
            <a:ext cx="2029968" cy="502920"/>
          </a:xfrm>
          <a:prstGeom prst="rect">
            <a:avLst/>
          </a:prstGeom>
          <a:noFill/>
        </p:spPr>
        <p:txBody>
          <a:bodyPr wrap="square">
            <a:spAutoFit/>
          </a:bodyPr>
          <a:lstStyle/>
          <a:p>
            <a:pPr algn="ctr"/>
            <a:r>
              <a:rPr sz="900" b="0" dirty="0">
                <a:solidFill>
                  <a:srgbClr val="FFFFFF"/>
                </a:solidFill>
              </a:rPr>
              <a:t>STAT 4830 — Spring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2359</Words>
  <Application>Microsoft Macintosh PowerPoint</Application>
  <PresentationFormat>Custom</PresentationFormat>
  <Paragraphs>253</Paragraphs>
  <Slides>15</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Olivia Liu</cp:lastModifiedBy>
  <cp:revision>5</cp:revision>
  <dcterms:created xsi:type="dcterms:W3CDTF">2026-03-20T01:19:08Z</dcterms:created>
  <dcterms:modified xsi:type="dcterms:W3CDTF">2026-03-21T01:25:57Z</dcterms:modified>
</cp:coreProperties>
</file>