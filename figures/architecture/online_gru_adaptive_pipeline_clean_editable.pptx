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0066CC"/>
                </a:solidFill>
              </a:rPr>
              <a:t>Online Policy Adaptation Loop (Clean Editable)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66928"/>
            <a:ext cx="114300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685800"/>
            <a:ext cx="1920240" cy="658368"/>
          </a:xfrm>
          <a:prstGeom prst="roundRect">
            <a:avLst/>
          </a:prstGeom>
          <a:solidFill>
            <a:srgbClr val="DFECFF"/>
          </a:solidFill>
          <a:ln w="15240">
            <a:solidFill>
              <a:srgbClr val="9D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Shared Features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Build aligned market/IPO/risk inputs for all later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685800"/>
            <a:ext cx="1920240" cy="658368"/>
          </a:xfrm>
          <a:prstGeom prst="roundRect">
            <a:avLst/>
          </a:prstGeom>
          <a:solidFill>
            <a:srgbClr val="DFECFF"/>
          </a:solidFill>
          <a:ln w="15240">
            <a:solidFill>
              <a:srgbClr val="9D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Window Timeline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Create rolling decision dates and train_end/eval indices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685800"/>
            <a:ext cx="1920240" cy="658368"/>
          </a:xfrm>
          <a:prstGeom prst="roundRect">
            <a:avLst/>
          </a:prstGeom>
          <a:solidFill>
            <a:srgbClr val="DFECFF"/>
          </a:solidFill>
          <a:ln w="15240">
            <a:solidFill>
              <a:srgbClr val="9D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Per-Step History Slice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At date t, slice only history available up to train_end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685800"/>
            <a:ext cx="1920240" cy="658368"/>
          </a:xfrm>
          <a:prstGeom prst="roundRect">
            <a:avLst/>
          </a:prstGeom>
          <a:solidFill>
            <a:srgbClr val="DDF5E7"/>
          </a:solidFill>
          <a:ln w="15240">
            <a:solidFill>
              <a:srgbClr val="9CC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Warm-Start Update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Continue training from prior model (not from scratch)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685800"/>
            <a:ext cx="2377440" cy="658368"/>
          </a:xfrm>
          <a:prstGeom prst="roundRect">
            <a:avLst/>
          </a:prstGeom>
          <a:solidFill>
            <a:srgbClr val="FFF3D6"/>
          </a:solidFill>
          <a:ln w="15240">
            <a:solidFill>
              <a:srgbClr val="D8B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Update Policy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Define when to update and minimum quality threshold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014984"/>
            <a:ext cx="13716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51960" y="1014984"/>
            <a:ext cx="13716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1014984"/>
            <a:ext cx="13716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66760" y="1014984"/>
            <a:ext cx="13716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" y="1508760"/>
            <a:ext cx="11155680" cy="393192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A9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72768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B3A4A"/>
                </a:solidFill>
              </a:rPr>
              <a:t>Per scheduled decision date (t)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920240"/>
            <a:ext cx="1828800" cy="731520"/>
          </a:xfrm>
          <a:prstGeom prst="roundRect">
            <a:avLst/>
          </a:prstGeom>
          <a:solidFill>
            <a:srgbClr val="FFF3D6"/>
          </a:solidFill>
          <a:ln w="15240">
            <a:solidFill>
              <a:srgbClr val="D8B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Update date?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Check schedule; if no, reuse last accepted model 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920240"/>
            <a:ext cx="1645920" cy="731520"/>
          </a:xfrm>
          <a:prstGeom prst="roundRect">
            <a:avLst/>
          </a:prstGeom>
          <a:solidFill>
            <a:srgbClr val="DFECFF"/>
          </a:solidFill>
          <a:ln w="15240">
            <a:solidFill>
              <a:srgbClr val="9D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Train/Val Split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Split history in time order so validation is always future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920240"/>
            <a:ext cx="1783080" cy="731520"/>
          </a:xfrm>
          <a:prstGeom prst="roundRect">
            <a:avLst/>
          </a:prstGeom>
          <a:solidFill>
            <a:srgbClr val="DFECFF"/>
          </a:solidFill>
          <a:ln w="15240">
            <a:solidFill>
              <a:srgbClr val="9D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Candidate Metrics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Compute val-loss delta and relative change after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920240"/>
            <a:ext cx="1737360" cy="731520"/>
          </a:xfrm>
          <a:prstGeom prst="roundRect">
            <a:avLst/>
          </a:prstGeom>
          <a:solidFill>
            <a:srgbClr val="EFEFF6"/>
          </a:solidFill>
          <a:ln w="15240">
            <a:solidFill>
              <a:srgbClr val="B9B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Threshold Check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Accept new params only if metrics pass configured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200400"/>
            <a:ext cx="2057400" cy="731520"/>
          </a:xfrm>
          <a:prstGeom prst="roundRect">
            <a:avLst/>
          </a:prstGeom>
          <a:solidFill>
            <a:srgbClr val="DDF5E7"/>
          </a:solidFill>
          <a:ln w="15240">
            <a:solidFill>
              <a:srgbClr val="9CC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Action Inference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Predict portfolio weights to use on decision date 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2194560" cy="731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C6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Path Accounting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Log realized return, turnover, transaction costs, update flag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2286000"/>
            <a:ext cx="27432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78608" y="2066543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B3A4A"/>
                </a:solidFill>
              </a:rPr>
              <a:t>yes-update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60" y="2286000"/>
            <a:ext cx="27432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37960" y="2286000"/>
            <a:ext cx="27432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230368" y="2651760"/>
            <a:ext cx="3319272" cy="54864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0" y="27889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B3A4A"/>
                </a:solidFill>
              </a:rPr>
              <a:t>accepted/reverted params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45920" y="2651760"/>
            <a:ext cx="0" cy="91440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45920" y="3566160"/>
            <a:ext cx="256032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11680" y="33375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B3A4A"/>
                </a:solidFill>
              </a:rPr>
              <a:t>no-update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63640" y="3566160"/>
            <a:ext cx="320040" cy="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868680" y="2651760"/>
            <a:ext cx="6812280" cy="54864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26080" y="28346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B3A4A"/>
                </a:solidFill>
              </a:rPr>
              <a:t>next decision date (t+1)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645920" y="1344168"/>
            <a:ext cx="8046720" cy="576072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23760" y="1463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B3A4A"/>
                </a:solidFill>
              </a:rPr>
              <a:t>configured cadence + gate rules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5623560"/>
            <a:ext cx="5669280" cy="731520"/>
          </a:xfrm>
          <a:prstGeom prst="roundRect">
            <a:avLst/>
          </a:prstGeom>
          <a:solidFill>
            <a:srgbClr val="EEDFFF"/>
          </a:solidFill>
          <a:ln w="15240">
            <a:solidFill>
              <a:srgbClr val="C8A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F2A38"/>
                </a:solidFill>
              </a:rPr>
              <a:t>Online Outputs</a:t>
            </a:r>
          </a:p>
          <a:p>
            <a:pPr algn="ctr"/>
            <a:r>
              <a:rPr sz="900">
                <a:solidFill>
                  <a:srgbClr val="3A3A3A"/>
                </a:solidFill>
              </a:rPr>
              <a:t>Export policy path, schedule log, diagnostics, and update-benefit stats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669280" y="3931920"/>
            <a:ext cx="2011680" cy="1691640"/>
          </a:xfrm>
          <a:prstGeom prst="line">
            <a:avLst/>
          </a:prstGeom>
          <a:ln w="15240">
            <a:solidFill>
              <a:srgbClr val="4D5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